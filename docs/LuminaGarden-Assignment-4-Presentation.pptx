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Kartik | 0:00-0:25 (25 seconds).</a:t>
            </a:r>
          </a:p>
          <a:p/>
          <a:p>
            <a:r>
              <a:t>LuminaGarden is a small interactive garden built with Three.js and TypeScript. Our three pillars are procedural generation, animation, and rendering. We have created a new version with a complete loop: start, plant and shape the garden, finish, and restart. Also, we have added the wind and day/night effect on the enviornment. For this moment, however, we'll focus on two challenges: coherent plant animation and the cost of glow.</a:t>
            </a:r>
          </a:p>
          <a:p/>
          <a:p>
            <a:r>
              <a:t>Point briefly at the loop; keep the overview short.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Kartik | 0:25-1:45 (80 seconds).</a:t>
            </a:r>
          </a:p>
          <a:p/>
          <a:p>
            <a:r>
              <a:t>Our first challenge is making procedural plants grow in a believable order. Random branching can look incoherent, and scaling a complete model reveals everything at once. We use a seeded blueprint with bounded dimensions and staggered growth.</a:t>
            </a:r>
          </a:p>
          <a:p/>
          <a:p>
            <a:r>
              <a:t>The equation converts the whole plant's progress into a growth amount for each part. Progress runs from zero to one, while start and end set that part's growth window. Subtracting start and dividing by end minus start puts us on the part's own timeline. Clamp keeps the value between zero and one. Smoothstep makes growth start and finish gently, and g is the final reveal amount. For example, a leaf scheduled between 60% and 80% is halfway revealed at 70%.</a:t>
            </a:r>
          </a:p>
          <a:p/>
          <a:p>
            <a:r>
              <a:t>That amount extends each stem segment from its base or reveals a leaf or petal. These screenshots show the nine-second sequence. The same seed recreates the same blueprint; tests check 300 seeds. The rules do not prevent every leaf intersection.</a:t>
            </a:r>
          </a:p>
          <a:p/>
          <a:p>
            <a:r>
              <a:t>Point along the stage images, then hand over to Safa.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Safa | 1:45-3:10 (85 seconds).</a:t>
            </a:r>
          </a:p>
          <a:p/>
          <a:p>
            <a:r>
              <a:t>Adding wind makes the first challenge harder. If we rotate each leaf or branch independently, attachment points can separate, especially during growth. Our solution is one continuous deformation in plant-local coordinates. We first place an instance, then bend its resulting position using the same height-squared field as every other part. A vertex at the root has zero displacement, and higher vertices move farther. Each plant gets a seed-derived phase.</a:t>
            </a:r>
          </a:p>
          <a:p/>
          <a:p>
            <a:r>
              <a:t>Growth still updates the instance transforms. Wind runs in the vertex shader, so mature plants can sway without uploading all their organ matrices again. We also transform normals using the deformation's inverse-transpose Jacobian so lighting follows the bend. Point-light anchors use the same analytic field on the CPU.</a:t>
            </a:r>
          </a:p>
          <a:p/>
          <a:p>
            <a:r>
              <a:t>The screenshots show the same five-plant layout with still and strong wind. This is a cheap, coherent visual approximation: it does not model inertia or preserve exact branch lengths. Those are deliberate limitations, not physical-simulation claims.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Safa | 3:10-4:30 (80 seconds).</a:t>
            </a:r>
          </a:p>
          <a:p/>
          <a:p>
            <a:r>
              <a:t>The second challenge is producing convincing glow within a real-time budget. Emission makes a surface bright. A point light illuminates nearby soil. Bloom is a screen-space halo around bright pixels. The comparison switches bloom off and on while keeping emission. Day/night also adjusts emission and bloom to avoid the washed-out daytime result we found in visual review.</a:t>
            </a:r>
          </a:p>
          <a:p/>
          <a:p>
            <a:r>
              <a:t>We measured actual animation-frame intervals with wind at seventy percent, daylight at fifteen percent, bloom enabled, and one point light per plant. Each level gets ten seconds of growth and warm-up followed by eight seconds of sampling. The table shows the measured averages and total draw calls, including post-processing. The slowest recorded frame was 83.4 milliseconds, so an average near sixty does not mean every frame met the target.</a:t>
            </a:r>
          </a:p>
          <a:p/>
          <a:p>
            <a:r>
              <a:t>These results are specific to Chrome, this M2 GPU, and this viewport. Five plants do not validate the original twenty-plant target, and a sixty-FPS cap hides spare headroom. Our next work is broader profiling, light interaction, and plant families, with December seventh onward reserved for fixes and documentation.</a:t>
            </a:r>
          </a:p>
          <a:p/>
          <a:p>
            <a:r>
              <a:t>Leave around thirty seconds of margin within the five-minute limit.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511"/>
        </a:solidFill>
        <a:effectLst/>
      </p:bgPr>
    </p:bg>
    <p:spTree>
      <p:nvGrpSpPr>
        <p:cNvPr id="1" name=""/>
        <p:cNvGrpSpPr/>
        <p:nvPr/>
      </p:nvGrpSpPr>
      <p:grpSpPr/>
      <p:sp>
        <p:nvSpPr>
          <p:cNvPr id="2" name="TextBox 1"/>
          <p:cNvSpPr txBox="1"/>
          <p:nvPr/>
        </p:nvSpPr>
        <p:spPr>
          <a:xfrm>
            <a:off x="457200" y="279400"/>
            <a:ext cx="10033000" cy="215900"/>
          </a:xfrm>
          <a:prstGeom prst="rect">
            <a:avLst/>
          </a:prstGeom>
          <a:noFill/>
        </p:spPr>
        <p:txBody>
          <a:bodyPr wrap="square" lIns="0" rIns="0" tIns="0" bIns="0">
            <a:spAutoFit/>
          </a:bodyPr>
          <a:lstStyle/>
          <a:p>
            <a:pPr>
              <a:lnSpc>
                <a:spcPts val="1098"/>
              </a:lnSpc>
              <a:spcBef>
                <a:spcPts val="0"/>
              </a:spcBef>
              <a:spcAft>
                <a:spcPts val="0"/>
              </a:spcAft>
              <a:defRPr sz="900" b="1">
                <a:solidFill>
                  <a:srgbClr val="A4C58F"/>
                </a:solidFill>
                <a:latin typeface="Arial"/>
              </a:defRPr>
            </a:pPr>
            <a:r>
              <a:t>LUMINA GARDEN / ALPHA 04 / MID-CRIT</a:t>
            </a:r>
          </a:p>
        </p:txBody>
      </p:sp>
      <p:sp>
        <p:nvSpPr>
          <p:cNvPr id="3" name="TextBox 2"/>
          <p:cNvSpPr txBox="1"/>
          <p:nvPr/>
        </p:nvSpPr>
        <p:spPr>
          <a:xfrm>
            <a:off x="457200" y="698500"/>
            <a:ext cx="11303000" cy="571500"/>
          </a:xfrm>
          <a:prstGeom prst="rect">
            <a:avLst/>
          </a:prstGeom>
          <a:noFill/>
        </p:spPr>
        <p:txBody>
          <a:bodyPr wrap="square" lIns="0" rIns="0" tIns="0" bIns="0">
            <a:spAutoFit/>
          </a:bodyPr>
          <a:lstStyle/>
          <a:p>
            <a:pPr>
              <a:lnSpc>
                <a:spcPts val="3415"/>
              </a:lnSpc>
              <a:spcBef>
                <a:spcPts val="0"/>
              </a:spcBef>
              <a:spcAft>
                <a:spcPts val="0"/>
              </a:spcAft>
              <a:defRPr sz="2800" b="1">
                <a:solidFill>
                  <a:srgbClr val="E7EFDF"/>
                </a:solidFill>
                <a:latin typeface="Arial"/>
              </a:defRPr>
            </a:pPr>
            <a:r>
              <a:t>A small garden. A complete experience.</a:t>
            </a:r>
          </a:p>
        </p:txBody>
      </p:sp>
      <p:sp>
        <p:nvSpPr>
          <p:cNvPr id="4" name="TextBox 3"/>
          <p:cNvSpPr txBox="1"/>
          <p:nvPr/>
        </p:nvSpPr>
        <p:spPr>
          <a:xfrm>
            <a:off x="457200" y="1308100"/>
            <a:ext cx="11176000" cy="444500"/>
          </a:xfrm>
          <a:prstGeom prst="rect">
            <a:avLst/>
          </a:prstGeom>
          <a:noFill/>
        </p:spPr>
        <p:txBody>
          <a:bodyPr wrap="square" lIns="0" rIns="0" tIns="0" bIns="0">
            <a:spAutoFit/>
          </a:bodyPr>
          <a:lstStyle/>
          <a:p>
            <a:pPr>
              <a:lnSpc>
                <a:spcPts val="1464"/>
              </a:lnSpc>
              <a:spcBef>
                <a:spcPts val="0"/>
              </a:spcBef>
              <a:spcAft>
                <a:spcPts val="0"/>
              </a:spcAft>
              <a:defRPr sz="1200" b="0">
                <a:solidFill>
                  <a:srgbClr val="A8BBA0"/>
                </a:solidFill>
                <a:latin typeface="Arial"/>
              </a:defRPr>
            </a:pPr>
            <a:r>
              <a:t>One alpha, three graphics pillars. Two technical challenges worth examining.</a:t>
            </a:r>
          </a:p>
        </p:txBody>
      </p:sp>
      <p:cxnSp>
        <p:nvCxnSpPr>
          <p:cNvPr id="5" name="Connector 4"/>
          <p:cNvCxnSpPr/>
          <p:nvPr/>
        </p:nvCxnSpPr>
        <p:spPr>
          <a:xfrm>
            <a:off x="457200" y="6400800"/>
            <a:ext cx="11277600" cy="0"/>
          </a:xfrm>
          <a:prstGeom prst="line">
            <a:avLst/>
          </a:prstGeom>
          <a:ln w="12700">
            <a:solidFill>
              <a:srgbClr val="3147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53200"/>
            <a:ext cx="8255000" cy="177800"/>
          </a:xfrm>
          <a:prstGeom prst="rect">
            <a:avLst/>
          </a:prstGeom>
          <a:noFill/>
        </p:spPr>
        <p:txBody>
          <a:bodyPr wrap="square" lIns="0" rIns="0" tIns="0" bIns="0">
            <a:spAutoFit/>
          </a:bodyPr>
          <a:lstStyle/>
          <a:p>
            <a:pPr>
              <a:lnSpc>
                <a:spcPts val="976"/>
              </a:lnSpc>
              <a:spcBef>
                <a:spcPts val="0"/>
              </a:spcBef>
              <a:spcAft>
                <a:spcPts val="0"/>
              </a:spcAft>
              <a:defRPr sz="800" b="0">
                <a:solidFill>
                  <a:srgbClr val="8EA581"/>
                </a:solidFill>
                <a:latin typeface="Arial"/>
              </a:defRPr>
            </a:pPr>
            <a:r>
              <a:t>Kartik Patel &amp; Safa Akbar   |   Kartik: 0:00-0:25</a:t>
            </a:r>
          </a:p>
        </p:txBody>
      </p:sp>
      <p:sp>
        <p:nvSpPr>
          <p:cNvPr id="7" name="TextBox 6"/>
          <p:cNvSpPr txBox="1"/>
          <p:nvPr/>
        </p:nvSpPr>
        <p:spPr>
          <a:xfrm>
            <a:off x="11074400" y="6540500"/>
            <a:ext cx="698500" cy="190500"/>
          </a:xfrm>
          <a:prstGeom prst="rect">
            <a:avLst/>
          </a:prstGeom>
          <a:noFill/>
        </p:spPr>
        <p:txBody>
          <a:bodyPr wrap="square" lIns="0" rIns="0" tIns="0" bIns="0">
            <a:spAutoFit/>
          </a:bodyPr>
          <a:lstStyle/>
          <a:p>
            <a:pPr>
              <a:lnSpc>
                <a:spcPts val="1098"/>
              </a:lnSpc>
              <a:spcBef>
                <a:spcPts val="0"/>
              </a:spcBef>
              <a:spcAft>
                <a:spcPts val="0"/>
              </a:spcAft>
              <a:defRPr sz="900" b="0">
                <a:solidFill>
                  <a:srgbClr val="B6D0A5"/>
                </a:solidFill>
                <a:latin typeface="Arial"/>
              </a:defRPr>
            </a:pPr>
            <a:r>
              <a:t>1 / 4</a:t>
            </a:r>
          </a:p>
        </p:txBody>
      </p:sp>
      <p:sp>
        <p:nvSpPr>
          <p:cNvPr id="8" name="TextBox 7"/>
          <p:cNvSpPr txBox="1"/>
          <p:nvPr/>
        </p:nvSpPr>
        <p:spPr>
          <a:xfrm>
            <a:off x="457200" y="1993900"/>
            <a:ext cx="4445000" cy="889000"/>
          </a:xfrm>
          <a:prstGeom prst="rect">
            <a:avLst/>
          </a:prstGeom>
          <a:noFill/>
        </p:spPr>
        <p:txBody>
          <a:bodyPr wrap="square" lIns="0" rIns="0" tIns="0" bIns="0">
            <a:spAutoFit/>
          </a:bodyPr>
          <a:lstStyle/>
          <a:p>
            <a:pPr>
              <a:lnSpc>
                <a:spcPts val="2318"/>
              </a:lnSpc>
              <a:spcBef>
                <a:spcPts val="0"/>
              </a:spcBef>
              <a:spcAft>
                <a:spcPts val="0"/>
              </a:spcAft>
              <a:defRPr sz="1900" b="1">
                <a:solidFill>
                  <a:srgbClr val="E7EFDF"/>
                </a:solidFill>
                <a:latin typeface="Arial"/>
              </a:defRPr>
            </a:pPr>
            <a:r>
              <a:t>Build a bioluminescent garden</a:t>
            </a:r>
          </a:p>
          <a:p>
            <a:pPr>
              <a:lnSpc>
                <a:spcPts val="2318"/>
              </a:lnSpc>
              <a:spcBef>
                <a:spcPts val="0"/>
              </a:spcBef>
              <a:spcAft>
                <a:spcPts val="0"/>
              </a:spcAft>
              <a:defRPr sz="1900" b="1">
                <a:solidFill>
                  <a:srgbClr val="E7EFDF"/>
                </a:solidFill>
                <a:latin typeface="Arial"/>
              </a:defRPr>
            </a:pPr>
            <a:r>
              <a:t>from seeds and simple rules.</a:t>
            </a:r>
          </a:p>
        </p:txBody>
      </p:sp>
      <p:sp>
        <p:nvSpPr>
          <p:cNvPr id="9" name="TextBox 8"/>
          <p:cNvSpPr txBox="1"/>
          <p:nvPr/>
        </p:nvSpPr>
        <p:spPr>
          <a:xfrm>
            <a:off x="457200" y="3175000"/>
            <a:ext cx="4445000" cy="228600"/>
          </a:xfrm>
          <a:prstGeom prst="rect">
            <a:avLst/>
          </a:prstGeom>
          <a:noFill/>
        </p:spPr>
        <p:txBody>
          <a:bodyPr wrap="square" lIns="0" rIns="0" tIns="0" bIns="0">
            <a:spAutoFit/>
          </a:bodyPr>
          <a:lstStyle/>
          <a:p>
            <a:pPr>
              <a:lnSpc>
                <a:spcPts val="1220"/>
              </a:lnSpc>
              <a:spcBef>
                <a:spcPts val="0"/>
              </a:spcBef>
              <a:spcAft>
                <a:spcPts val="0"/>
              </a:spcAft>
              <a:defRPr sz="1000" b="1">
                <a:solidFill>
                  <a:srgbClr val="A4C58F"/>
                </a:solidFill>
                <a:latin typeface="Arial"/>
              </a:defRPr>
            </a:pPr>
            <a:r>
              <a:t>PROCEDURAL GENERATION</a:t>
            </a:r>
          </a:p>
        </p:txBody>
      </p:sp>
      <p:sp>
        <p:nvSpPr>
          <p:cNvPr id="10" name="TextBox 9"/>
          <p:cNvSpPr txBox="1"/>
          <p:nvPr/>
        </p:nvSpPr>
        <p:spPr>
          <a:xfrm>
            <a:off x="457200" y="3416300"/>
            <a:ext cx="4508500" cy="304800"/>
          </a:xfrm>
          <a:prstGeom prst="rect">
            <a:avLst/>
          </a:prstGeom>
          <a:noFill/>
        </p:spPr>
        <p:txBody>
          <a:bodyPr wrap="square" lIns="0" rIns="0" tIns="0" bIns="0">
            <a:spAutoFit/>
          </a:bodyPr>
          <a:lstStyle/>
          <a:p>
            <a:pPr>
              <a:lnSpc>
                <a:spcPts val="1464"/>
              </a:lnSpc>
              <a:spcBef>
                <a:spcPts val="0"/>
              </a:spcBef>
              <a:spcAft>
                <a:spcPts val="0"/>
              </a:spcAft>
              <a:defRPr sz="1200" b="0">
                <a:solidFill>
                  <a:srgbClr val="D0DECA"/>
                </a:solidFill>
                <a:latin typeface="Arial"/>
              </a:defRPr>
            </a:pPr>
            <a:r>
              <a:t>Seeded geometry and bounded variation</a:t>
            </a:r>
          </a:p>
        </p:txBody>
      </p:sp>
      <p:sp>
        <p:nvSpPr>
          <p:cNvPr id="11" name="TextBox 10"/>
          <p:cNvSpPr txBox="1"/>
          <p:nvPr/>
        </p:nvSpPr>
        <p:spPr>
          <a:xfrm>
            <a:off x="457200" y="3810000"/>
            <a:ext cx="4445000" cy="228600"/>
          </a:xfrm>
          <a:prstGeom prst="rect">
            <a:avLst/>
          </a:prstGeom>
          <a:noFill/>
        </p:spPr>
        <p:txBody>
          <a:bodyPr wrap="square" lIns="0" rIns="0" tIns="0" bIns="0">
            <a:spAutoFit/>
          </a:bodyPr>
          <a:lstStyle/>
          <a:p>
            <a:pPr>
              <a:lnSpc>
                <a:spcPts val="1220"/>
              </a:lnSpc>
              <a:spcBef>
                <a:spcPts val="0"/>
              </a:spcBef>
              <a:spcAft>
                <a:spcPts val="0"/>
              </a:spcAft>
              <a:defRPr sz="1000" b="1">
                <a:solidFill>
                  <a:srgbClr val="A4C58F"/>
                </a:solidFill>
                <a:latin typeface="Arial"/>
              </a:defRPr>
            </a:pPr>
            <a:r>
              <a:t>ANIMATION</a:t>
            </a:r>
          </a:p>
        </p:txBody>
      </p:sp>
      <p:sp>
        <p:nvSpPr>
          <p:cNvPr id="12" name="TextBox 11"/>
          <p:cNvSpPr txBox="1"/>
          <p:nvPr/>
        </p:nvSpPr>
        <p:spPr>
          <a:xfrm>
            <a:off x="457200" y="4051300"/>
            <a:ext cx="4508500" cy="304800"/>
          </a:xfrm>
          <a:prstGeom prst="rect">
            <a:avLst/>
          </a:prstGeom>
          <a:noFill/>
        </p:spPr>
        <p:txBody>
          <a:bodyPr wrap="square" lIns="0" rIns="0" tIns="0" bIns="0">
            <a:spAutoFit/>
          </a:bodyPr>
          <a:lstStyle/>
          <a:p>
            <a:pPr>
              <a:lnSpc>
                <a:spcPts val="1464"/>
              </a:lnSpc>
              <a:spcBef>
                <a:spcPts val="0"/>
              </a:spcBef>
              <a:spcAft>
                <a:spcPts val="0"/>
              </a:spcAft>
              <a:defRPr sz="1200" b="0">
                <a:solidFill>
                  <a:srgbClr val="D0DECA"/>
                </a:solidFill>
                <a:latin typeface="Arial"/>
              </a:defRPr>
            </a:pPr>
            <a:r>
              <a:t>Staged growth + coherent wind</a:t>
            </a:r>
          </a:p>
        </p:txBody>
      </p:sp>
      <p:sp>
        <p:nvSpPr>
          <p:cNvPr id="13" name="TextBox 12"/>
          <p:cNvSpPr txBox="1"/>
          <p:nvPr/>
        </p:nvSpPr>
        <p:spPr>
          <a:xfrm>
            <a:off x="457200" y="4445000"/>
            <a:ext cx="4445000" cy="228600"/>
          </a:xfrm>
          <a:prstGeom prst="rect">
            <a:avLst/>
          </a:prstGeom>
          <a:noFill/>
        </p:spPr>
        <p:txBody>
          <a:bodyPr wrap="square" lIns="0" rIns="0" tIns="0" bIns="0">
            <a:spAutoFit/>
          </a:bodyPr>
          <a:lstStyle/>
          <a:p>
            <a:pPr>
              <a:lnSpc>
                <a:spcPts val="1220"/>
              </a:lnSpc>
              <a:spcBef>
                <a:spcPts val="0"/>
              </a:spcBef>
              <a:spcAft>
                <a:spcPts val="0"/>
              </a:spcAft>
              <a:defRPr sz="1000" b="1">
                <a:solidFill>
                  <a:srgbClr val="A4C58F"/>
                </a:solidFill>
                <a:latin typeface="Arial"/>
              </a:defRPr>
            </a:pPr>
            <a:r>
              <a:t>RENDERING</a:t>
            </a:r>
          </a:p>
        </p:txBody>
      </p:sp>
      <p:sp>
        <p:nvSpPr>
          <p:cNvPr id="14" name="TextBox 13"/>
          <p:cNvSpPr txBox="1"/>
          <p:nvPr/>
        </p:nvSpPr>
        <p:spPr>
          <a:xfrm>
            <a:off x="457200" y="4686300"/>
            <a:ext cx="4508500" cy="304800"/>
          </a:xfrm>
          <a:prstGeom prst="rect">
            <a:avLst/>
          </a:prstGeom>
          <a:noFill/>
        </p:spPr>
        <p:txBody>
          <a:bodyPr wrap="square" lIns="0" rIns="0" tIns="0" bIns="0">
            <a:spAutoFit/>
          </a:bodyPr>
          <a:lstStyle/>
          <a:p>
            <a:pPr>
              <a:lnSpc>
                <a:spcPts val="1464"/>
              </a:lnSpc>
              <a:spcBef>
                <a:spcPts val="0"/>
              </a:spcBef>
              <a:spcAft>
                <a:spcPts val="0"/>
              </a:spcAft>
              <a:defRPr sz="1200" b="0">
                <a:solidFill>
                  <a:srgbClr val="D0DECA"/>
                </a:solidFill>
                <a:latin typeface="Arial"/>
              </a:defRPr>
            </a:pPr>
            <a:r>
              <a:t>Emission, colored lights, bloom + day/night</a:t>
            </a:r>
          </a:p>
        </p:txBody>
      </p:sp>
      <p:pic>
        <p:nvPicPr>
          <p:cNvPr id="15" name="Picture 14" descr="night.png"/>
          <p:cNvPicPr>
            <a:picLocks noChangeAspect="1"/>
          </p:cNvPicPr>
          <p:nvPr/>
        </p:nvPicPr>
        <p:blipFill>
          <a:blip r:embed="rId3"/>
          <a:stretch>
            <a:fillRect/>
          </a:stretch>
        </p:blipFill>
        <p:spPr>
          <a:xfrm>
            <a:off x="5257800" y="1924365"/>
            <a:ext cx="6477000" cy="3542668"/>
          </a:xfrm>
          <a:prstGeom prst="rect">
            <a:avLst/>
          </a:prstGeom>
        </p:spPr>
      </p:pic>
      <p:sp>
        <p:nvSpPr>
          <p:cNvPr id="16" name="Rounded Rectangle 15"/>
          <p:cNvSpPr/>
          <p:nvPr/>
        </p:nvSpPr>
        <p:spPr>
          <a:xfrm>
            <a:off x="457200" y="5588000"/>
            <a:ext cx="3302000" cy="6477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600" y="5702300"/>
            <a:ext cx="2997200" cy="190500"/>
          </a:xfrm>
          <a:prstGeom prst="rect">
            <a:avLst/>
          </a:prstGeom>
          <a:noFill/>
        </p:spPr>
        <p:txBody>
          <a:bodyPr wrap="square" lIns="0" rIns="0" tIns="0" bIns="0">
            <a:spAutoFit/>
          </a:bodyPr>
          <a:lstStyle/>
          <a:p>
            <a:pPr>
              <a:lnSpc>
                <a:spcPts val="1220"/>
              </a:lnSpc>
              <a:spcBef>
                <a:spcPts val="0"/>
              </a:spcBef>
              <a:spcAft>
                <a:spcPts val="0"/>
              </a:spcAft>
              <a:defRPr sz="1000" b="1">
                <a:solidFill>
                  <a:srgbClr val="C6E1B3"/>
                </a:solidFill>
                <a:latin typeface="Arial"/>
              </a:defRPr>
            </a:pPr>
            <a:r>
              <a:t>01 / START</a:t>
            </a:r>
          </a:p>
        </p:txBody>
      </p:sp>
      <p:sp>
        <p:nvSpPr>
          <p:cNvPr id="18" name="TextBox 17"/>
          <p:cNvSpPr txBox="1"/>
          <p:nvPr/>
        </p:nvSpPr>
        <p:spPr>
          <a:xfrm>
            <a:off x="609600" y="5969000"/>
            <a:ext cx="2997200" cy="203200"/>
          </a:xfrm>
          <a:prstGeom prst="rect">
            <a:avLst/>
          </a:prstGeom>
          <a:noFill/>
        </p:spPr>
        <p:txBody>
          <a:bodyPr wrap="square" lIns="0" rIns="0" tIns="0" bIns="0">
            <a:spAutoFit/>
          </a:bodyPr>
          <a:lstStyle/>
          <a:p>
            <a:pPr>
              <a:lnSpc>
                <a:spcPts val="1220"/>
              </a:lnSpc>
              <a:spcBef>
                <a:spcPts val="0"/>
              </a:spcBef>
              <a:spcAft>
                <a:spcPts val="0"/>
              </a:spcAft>
              <a:defRPr sz="1000" b="0">
                <a:solidFill>
                  <a:srgbClr val="A1B596"/>
                </a:solidFill>
                <a:latin typeface="Arial"/>
              </a:defRPr>
            </a:pPr>
            <a:r>
              <a:t>Menu + short control guide</a:t>
            </a:r>
          </a:p>
        </p:txBody>
      </p:sp>
      <p:sp>
        <p:nvSpPr>
          <p:cNvPr id="19" name="Rounded Rectangle 18"/>
          <p:cNvSpPr/>
          <p:nvPr/>
        </p:nvSpPr>
        <p:spPr>
          <a:xfrm>
            <a:off x="4229100" y="5588000"/>
            <a:ext cx="3429000" cy="6477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1500" y="5702300"/>
            <a:ext cx="3124200" cy="190500"/>
          </a:xfrm>
          <a:prstGeom prst="rect">
            <a:avLst/>
          </a:prstGeom>
          <a:noFill/>
        </p:spPr>
        <p:txBody>
          <a:bodyPr wrap="square" lIns="0" rIns="0" tIns="0" bIns="0">
            <a:spAutoFit/>
          </a:bodyPr>
          <a:lstStyle/>
          <a:p>
            <a:pPr>
              <a:lnSpc>
                <a:spcPts val="1220"/>
              </a:lnSpc>
              <a:spcBef>
                <a:spcPts val="0"/>
              </a:spcBef>
              <a:spcAft>
                <a:spcPts val="0"/>
              </a:spcAft>
              <a:defRPr sz="1000" b="1">
                <a:solidFill>
                  <a:srgbClr val="C6E1B3"/>
                </a:solidFill>
                <a:latin typeface="Arial"/>
              </a:defRPr>
            </a:pPr>
            <a:r>
              <a:t>02 / GROW &amp; SHAPE</a:t>
            </a:r>
          </a:p>
        </p:txBody>
      </p:sp>
      <p:sp>
        <p:nvSpPr>
          <p:cNvPr id="21" name="TextBox 20"/>
          <p:cNvSpPr txBox="1"/>
          <p:nvPr/>
        </p:nvSpPr>
        <p:spPr>
          <a:xfrm>
            <a:off x="4381500" y="5969000"/>
            <a:ext cx="3124200" cy="203200"/>
          </a:xfrm>
          <a:prstGeom prst="rect">
            <a:avLst/>
          </a:prstGeom>
          <a:noFill/>
        </p:spPr>
        <p:txBody>
          <a:bodyPr wrap="square" lIns="0" rIns="0" tIns="0" bIns="0">
            <a:spAutoFit/>
          </a:bodyPr>
          <a:lstStyle/>
          <a:p>
            <a:pPr>
              <a:lnSpc>
                <a:spcPts val="1220"/>
              </a:lnSpc>
              <a:spcBef>
                <a:spcPts val="0"/>
              </a:spcBef>
              <a:spcAft>
                <a:spcPts val="0"/>
              </a:spcAft>
              <a:defRPr sz="1000" b="0">
                <a:solidFill>
                  <a:srgbClr val="A1B596"/>
                </a:solidFill>
                <a:latin typeface="Arial"/>
              </a:defRPr>
            </a:pPr>
            <a:r>
              <a:t>Plant 1-5 seeds · wind · time of day</a:t>
            </a:r>
          </a:p>
        </p:txBody>
      </p:sp>
      <p:sp>
        <p:nvSpPr>
          <p:cNvPr id="22" name="Rounded Rectangle 21"/>
          <p:cNvSpPr/>
          <p:nvPr/>
        </p:nvSpPr>
        <p:spPr>
          <a:xfrm>
            <a:off x="8128000" y="5588000"/>
            <a:ext cx="3606800" cy="6477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0400" y="5702300"/>
            <a:ext cx="3302000" cy="190500"/>
          </a:xfrm>
          <a:prstGeom prst="rect">
            <a:avLst/>
          </a:prstGeom>
          <a:noFill/>
        </p:spPr>
        <p:txBody>
          <a:bodyPr wrap="square" lIns="0" rIns="0" tIns="0" bIns="0">
            <a:spAutoFit/>
          </a:bodyPr>
          <a:lstStyle/>
          <a:p>
            <a:pPr>
              <a:lnSpc>
                <a:spcPts val="1220"/>
              </a:lnSpc>
              <a:spcBef>
                <a:spcPts val="0"/>
              </a:spcBef>
              <a:spcAft>
                <a:spcPts val="0"/>
              </a:spcAft>
              <a:defRPr sz="1000" b="1">
                <a:solidFill>
                  <a:srgbClr val="C6E1B3"/>
                </a:solidFill>
                <a:latin typeface="Arial"/>
              </a:defRPr>
            </a:pPr>
            <a:r>
              <a:t>03 / FINISH &amp; RESTART</a:t>
            </a:r>
          </a:p>
        </p:txBody>
      </p:sp>
      <p:sp>
        <p:nvSpPr>
          <p:cNvPr id="24" name="TextBox 23"/>
          <p:cNvSpPr txBox="1"/>
          <p:nvPr/>
        </p:nvSpPr>
        <p:spPr>
          <a:xfrm>
            <a:off x="8280400" y="5969000"/>
            <a:ext cx="3302000" cy="203200"/>
          </a:xfrm>
          <a:prstGeom prst="rect">
            <a:avLst/>
          </a:prstGeom>
          <a:noFill/>
        </p:spPr>
        <p:txBody>
          <a:bodyPr wrap="square" lIns="0" rIns="0" tIns="0" bIns="0">
            <a:spAutoFit/>
          </a:bodyPr>
          <a:lstStyle/>
          <a:p>
            <a:pPr>
              <a:lnSpc>
                <a:spcPts val="1220"/>
              </a:lnSpc>
              <a:spcBef>
                <a:spcPts val="0"/>
              </a:spcBef>
              <a:spcAft>
                <a:spcPts val="0"/>
              </a:spcAft>
              <a:defRPr sz="1000" b="0">
                <a:solidFill>
                  <a:srgbClr val="A1B596"/>
                </a:solidFill>
                <a:latin typeface="Arial"/>
              </a:defRPr>
            </a:pPr>
            <a:r>
              <a:t>Mature garden summary · clean reset</a:t>
            </a:r>
          </a:p>
        </p:txBody>
      </p:sp>
      <p:cxnSp>
        <p:nvCxnSpPr>
          <p:cNvPr id="25" name="Connector 24"/>
          <p:cNvCxnSpPr/>
          <p:nvPr/>
        </p:nvCxnSpPr>
        <p:spPr>
          <a:xfrm>
            <a:off x="3810000" y="5905500"/>
            <a:ext cx="368300" cy="0"/>
          </a:xfrm>
          <a:prstGeom prst="line">
            <a:avLst/>
          </a:prstGeom>
          <a:ln w="12700">
            <a:solidFill>
              <a:srgbClr val="AFCF9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708900" y="5905500"/>
            <a:ext cx="368300" cy="0"/>
          </a:xfrm>
          <a:prstGeom prst="line">
            <a:avLst/>
          </a:prstGeom>
          <a:ln w="12700">
            <a:solidFill>
              <a:srgbClr val="AFCF9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1511"/>
        </a:solidFill>
        <a:effectLst/>
      </p:bgPr>
    </p:bg>
    <p:spTree>
      <p:nvGrpSpPr>
        <p:cNvPr id="1" name=""/>
        <p:cNvGrpSpPr/>
        <p:nvPr/>
      </p:nvGrpSpPr>
      <p:grpSpPr/>
      <p:sp>
        <p:nvSpPr>
          <p:cNvPr id="2" name="TextBox 1"/>
          <p:cNvSpPr txBox="1"/>
          <p:nvPr/>
        </p:nvSpPr>
        <p:spPr>
          <a:xfrm>
            <a:off x="457200" y="279400"/>
            <a:ext cx="10033000" cy="215900"/>
          </a:xfrm>
          <a:prstGeom prst="rect">
            <a:avLst/>
          </a:prstGeom>
          <a:noFill/>
        </p:spPr>
        <p:txBody>
          <a:bodyPr wrap="square" lIns="0" rIns="0" tIns="0" bIns="0">
            <a:spAutoFit/>
          </a:bodyPr>
          <a:lstStyle/>
          <a:p>
            <a:pPr>
              <a:lnSpc>
                <a:spcPts val="1098"/>
              </a:lnSpc>
              <a:spcBef>
                <a:spcPts val="0"/>
              </a:spcBef>
              <a:spcAft>
                <a:spcPts val="0"/>
              </a:spcAft>
              <a:defRPr sz="900" b="1">
                <a:solidFill>
                  <a:srgbClr val="A4C58F"/>
                </a:solidFill>
                <a:latin typeface="Arial"/>
              </a:defRPr>
            </a:pPr>
            <a:r>
              <a:t>LUMINA GARDEN / ALPHA 04 / MID-CRIT</a:t>
            </a:r>
          </a:p>
        </p:txBody>
      </p:sp>
      <p:sp>
        <p:nvSpPr>
          <p:cNvPr id="3" name="TextBox 2"/>
          <p:cNvSpPr txBox="1"/>
          <p:nvPr/>
        </p:nvSpPr>
        <p:spPr>
          <a:xfrm>
            <a:off x="457200" y="698500"/>
            <a:ext cx="11303000" cy="571500"/>
          </a:xfrm>
          <a:prstGeom prst="rect">
            <a:avLst/>
          </a:prstGeom>
          <a:noFill/>
        </p:spPr>
        <p:txBody>
          <a:bodyPr wrap="square" lIns="0" rIns="0" tIns="0" bIns="0">
            <a:spAutoFit/>
          </a:bodyPr>
          <a:lstStyle/>
          <a:p>
            <a:pPr>
              <a:lnSpc>
                <a:spcPts val="3415"/>
              </a:lnSpc>
              <a:spcBef>
                <a:spcPts val="0"/>
              </a:spcBef>
              <a:spcAft>
                <a:spcPts val="0"/>
              </a:spcAft>
              <a:defRPr sz="2800" b="1">
                <a:solidFill>
                  <a:srgbClr val="E7EFDF"/>
                </a:solidFill>
                <a:latin typeface="Arial"/>
              </a:defRPr>
            </a:pPr>
            <a:r>
              <a:t>Challenge 1 / Grow structure in sequence.</a:t>
            </a:r>
          </a:p>
        </p:txBody>
      </p:sp>
      <p:sp>
        <p:nvSpPr>
          <p:cNvPr id="4" name="TextBox 3"/>
          <p:cNvSpPr txBox="1"/>
          <p:nvPr/>
        </p:nvSpPr>
        <p:spPr>
          <a:xfrm>
            <a:off x="457200" y="1308100"/>
            <a:ext cx="11176000" cy="444500"/>
          </a:xfrm>
          <a:prstGeom prst="rect">
            <a:avLst/>
          </a:prstGeom>
          <a:noFill/>
        </p:spPr>
        <p:txBody>
          <a:bodyPr wrap="square" lIns="0" rIns="0" tIns="0" bIns="0">
            <a:spAutoFit/>
          </a:bodyPr>
          <a:lstStyle/>
          <a:p>
            <a:pPr>
              <a:lnSpc>
                <a:spcPts val="1464"/>
              </a:lnSpc>
              <a:spcBef>
                <a:spcPts val="0"/>
              </a:spcBef>
              <a:spcAft>
                <a:spcPts val="0"/>
              </a:spcAft>
              <a:defRPr sz="1200" b="0">
                <a:solidFill>
                  <a:srgbClr val="A8BBA0"/>
                </a:solidFill>
                <a:latin typeface="Arial"/>
              </a:defRPr>
            </a:pPr>
            <a:r>
              <a:t>A repeatable blueprint controls geometry; local timing makes each part emerge from its base.</a:t>
            </a:r>
          </a:p>
        </p:txBody>
      </p:sp>
      <p:cxnSp>
        <p:nvCxnSpPr>
          <p:cNvPr id="5" name="Connector 4"/>
          <p:cNvCxnSpPr/>
          <p:nvPr/>
        </p:nvCxnSpPr>
        <p:spPr>
          <a:xfrm>
            <a:off x="457200" y="6400800"/>
            <a:ext cx="11277600" cy="0"/>
          </a:xfrm>
          <a:prstGeom prst="line">
            <a:avLst/>
          </a:prstGeom>
          <a:ln w="12700">
            <a:solidFill>
              <a:srgbClr val="3147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53200"/>
            <a:ext cx="8255000" cy="177800"/>
          </a:xfrm>
          <a:prstGeom prst="rect">
            <a:avLst/>
          </a:prstGeom>
          <a:noFill/>
        </p:spPr>
        <p:txBody>
          <a:bodyPr wrap="square" lIns="0" rIns="0" tIns="0" bIns="0">
            <a:spAutoFit/>
          </a:bodyPr>
          <a:lstStyle/>
          <a:p>
            <a:pPr>
              <a:lnSpc>
                <a:spcPts val="976"/>
              </a:lnSpc>
              <a:spcBef>
                <a:spcPts val="0"/>
              </a:spcBef>
              <a:spcAft>
                <a:spcPts val="0"/>
              </a:spcAft>
              <a:defRPr sz="800" b="0">
                <a:solidFill>
                  <a:srgbClr val="8EA581"/>
                </a:solidFill>
                <a:latin typeface="Arial"/>
              </a:defRPr>
            </a:pPr>
            <a:r>
              <a:t>Kartik Patel &amp; Safa Akbar   |   Kartik: 0:25-1:45</a:t>
            </a:r>
          </a:p>
        </p:txBody>
      </p:sp>
      <p:sp>
        <p:nvSpPr>
          <p:cNvPr id="7" name="TextBox 6"/>
          <p:cNvSpPr txBox="1"/>
          <p:nvPr/>
        </p:nvSpPr>
        <p:spPr>
          <a:xfrm>
            <a:off x="11074400" y="6540500"/>
            <a:ext cx="698500" cy="190500"/>
          </a:xfrm>
          <a:prstGeom prst="rect">
            <a:avLst/>
          </a:prstGeom>
          <a:noFill/>
        </p:spPr>
        <p:txBody>
          <a:bodyPr wrap="square" lIns="0" rIns="0" tIns="0" bIns="0">
            <a:spAutoFit/>
          </a:bodyPr>
          <a:lstStyle/>
          <a:p>
            <a:pPr>
              <a:lnSpc>
                <a:spcPts val="1098"/>
              </a:lnSpc>
              <a:spcBef>
                <a:spcPts val="0"/>
              </a:spcBef>
              <a:spcAft>
                <a:spcPts val="0"/>
              </a:spcAft>
              <a:defRPr sz="900" b="0">
                <a:solidFill>
                  <a:srgbClr val="B6D0A5"/>
                </a:solidFill>
                <a:latin typeface="Arial"/>
              </a:defRPr>
            </a:pPr>
            <a:r>
              <a:t>2 / 4</a:t>
            </a:r>
          </a:p>
        </p:txBody>
      </p:sp>
      <p:sp>
        <p:nvSpPr>
          <p:cNvPr id="8" name="TextBox 7"/>
          <p:cNvSpPr txBox="1"/>
          <p:nvPr/>
        </p:nvSpPr>
        <p:spPr>
          <a:xfrm>
            <a:off x="457200" y="1968500"/>
            <a:ext cx="3556000" cy="241300"/>
          </a:xfrm>
          <a:prstGeom prst="rect">
            <a:avLst/>
          </a:prstGeom>
          <a:noFill/>
        </p:spPr>
        <p:txBody>
          <a:bodyPr wrap="square" lIns="0" rIns="0" tIns="0" bIns="0">
            <a:spAutoFit/>
          </a:bodyPr>
          <a:lstStyle/>
          <a:p>
            <a:pPr>
              <a:lnSpc>
                <a:spcPts val="1342"/>
              </a:lnSpc>
              <a:spcBef>
                <a:spcPts val="0"/>
              </a:spcBef>
              <a:spcAft>
                <a:spcPts val="0"/>
              </a:spcAft>
              <a:defRPr sz="1100" b="1">
                <a:solidFill>
                  <a:srgbClr val="A4C58F"/>
                </a:solidFill>
                <a:latin typeface="Arial"/>
              </a:defRPr>
            </a:pPr>
            <a:r>
              <a:t>WHY IT IS HARD</a:t>
            </a:r>
          </a:p>
        </p:txBody>
      </p:sp>
      <p:sp>
        <p:nvSpPr>
          <p:cNvPr id="9" name="TextBox 8"/>
          <p:cNvSpPr txBox="1"/>
          <p:nvPr/>
        </p:nvSpPr>
        <p:spPr>
          <a:xfrm>
            <a:off x="457200" y="2349500"/>
            <a:ext cx="3556000" cy="1231900"/>
          </a:xfrm>
          <a:prstGeom prst="rect">
            <a:avLst/>
          </a:prstGeom>
          <a:noFill/>
        </p:spPr>
        <p:txBody>
          <a:bodyPr wrap="square" lIns="0" rIns="0" tIns="0" bIns="0">
            <a:spAutoFit/>
          </a:bodyPr>
          <a:lstStyle/>
          <a:p>
            <a:pPr>
              <a:lnSpc>
                <a:spcPts val="1586"/>
              </a:lnSpc>
              <a:spcBef>
                <a:spcPts val="0"/>
              </a:spcBef>
              <a:spcAft>
                <a:spcPts val="0"/>
              </a:spcAft>
              <a:defRPr sz="1300" b="0">
                <a:solidFill>
                  <a:srgbClr val="D8E4D0"/>
                </a:solidFill>
                <a:latin typeface="Arial"/>
              </a:defRPr>
            </a:pPr>
            <a:r>
              <a:t>Random branches can look incoherent.</a:t>
            </a:r>
          </a:p>
          <a:p>
            <a:pPr>
              <a:lnSpc>
                <a:spcPts val="1586"/>
              </a:lnSpc>
              <a:spcBef>
                <a:spcPts val="0"/>
              </a:spcBef>
              <a:spcAft>
                <a:spcPts val="0"/>
              </a:spcAft>
              <a:defRPr sz="1300" b="0">
                <a:solidFill>
                  <a:srgbClr val="D8E4D0"/>
                </a:solidFill>
                <a:latin typeface="Arial"/>
              </a:defRPr>
            </a:pPr>
            <a:r>
              <a:t>Whole-model scaling reveals every part</a:t>
            </a:r>
          </a:p>
          <a:p>
            <a:pPr>
              <a:lnSpc>
                <a:spcPts val="1586"/>
              </a:lnSpc>
              <a:spcBef>
                <a:spcPts val="0"/>
              </a:spcBef>
              <a:spcAft>
                <a:spcPts val="0"/>
              </a:spcAft>
              <a:defRPr sz="1300" b="0">
                <a:solidFill>
                  <a:srgbClr val="D8E4D0"/>
                </a:solidFill>
                <a:latin typeface="Arial"/>
              </a:defRPr>
            </a:pPr>
            <a:r>
              <a:t>at once instead of showing growth.</a:t>
            </a:r>
          </a:p>
        </p:txBody>
      </p:sp>
      <p:sp>
        <p:nvSpPr>
          <p:cNvPr id="10" name="TextBox 9"/>
          <p:cNvSpPr txBox="1"/>
          <p:nvPr/>
        </p:nvSpPr>
        <p:spPr>
          <a:xfrm>
            <a:off x="4318000" y="1968500"/>
            <a:ext cx="3556000" cy="241300"/>
          </a:xfrm>
          <a:prstGeom prst="rect">
            <a:avLst/>
          </a:prstGeom>
          <a:noFill/>
        </p:spPr>
        <p:txBody>
          <a:bodyPr wrap="square" lIns="0" rIns="0" tIns="0" bIns="0">
            <a:spAutoFit/>
          </a:bodyPr>
          <a:lstStyle/>
          <a:p>
            <a:pPr>
              <a:lnSpc>
                <a:spcPts val="1342"/>
              </a:lnSpc>
              <a:spcBef>
                <a:spcPts val="0"/>
              </a:spcBef>
              <a:spcAft>
                <a:spcPts val="0"/>
              </a:spcAft>
              <a:defRPr sz="1100" b="1">
                <a:solidFill>
                  <a:srgbClr val="A4C58F"/>
                </a:solidFill>
                <a:latin typeface="Arial"/>
              </a:defRPr>
            </a:pPr>
            <a:r>
              <a:t>OUR APPROACH</a:t>
            </a:r>
          </a:p>
        </p:txBody>
      </p:sp>
      <p:sp>
        <p:nvSpPr>
          <p:cNvPr id="11" name="TextBox 10"/>
          <p:cNvSpPr txBox="1"/>
          <p:nvPr/>
        </p:nvSpPr>
        <p:spPr>
          <a:xfrm>
            <a:off x="4318000" y="2349500"/>
            <a:ext cx="3556000" cy="1231900"/>
          </a:xfrm>
          <a:prstGeom prst="rect">
            <a:avLst/>
          </a:prstGeom>
          <a:noFill/>
        </p:spPr>
        <p:txBody>
          <a:bodyPr wrap="square" lIns="0" rIns="0" tIns="0" bIns="0">
            <a:spAutoFit/>
          </a:bodyPr>
          <a:lstStyle/>
          <a:p>
            <a:pPr>
              <a:lnSpc>
                <a:spcPts val="1586"/>
              </a:lnSpc>
              <a:spcBef>
                <a:spcPts val="0"/>
              </a:spcBef>
              <a:spcAft>
                <a:spcPts val="0"/>
              </a:spcAft>
              <a:defRPr sz="1300" b="0">
                <a:solidFill>
                  <a:srgbClr val="D8E4D0"/>
                </a:solidFill>
                <a:latin typeface="Arial"/>
              </a:defRPr>
            </a:pPr>
            <a:r>
              <a:t>Seed → constrained blueprint → instances.</a:t>
            </a:r>
          </a:p>
          <a:p>
            <a:pPr>
              <a:lnSpc>
                <a:spcPts val="1586"/>
              </a:lnSpc>
              <a:spcBef>
                <a:spcPts val="0"/>
              </a:spcBef>
              <a:spcAft>
                <a:spcPts val="0"/>
              </a:spcAft>
              <a:defRPr sz="1300" b="0">
                <a:solidFill>
                  <a:srgbClr val="D8E4D0"/>
                </a:solidFill>
                <a:latin typeface="Arial"/>
              </a:defRPr>
            </a:pPr>
            <a:r>
              <a:t>14 trunk segments; 5-8 branches.</a:t>
            </a:r>
          </a:p>
          <a:p>
            <a:pPr>
              <a:lnSpc>
                <a:spcPts val="1586"/>
              </a:lnSpc>
              <a:spcBef>
                <a:spcPts val="0"/>
              </a:spcBef>
              <a:spcAft>
                <a:spcPts val="0"/>
              </a:spcAft>
              <a:defRPr sz="1300" b="0">
                <a:solidFill>
                  <a:srgbClr val="D8E4D0"/>
                </a:solidFill>
                <a:latin typeface="Arial"/>
              </a:defRPr>
            </a:pPr>
            <a:r>
              <a:t>3-5 leaves per branch; staggered reveal.</a:t>
            </a:r>
          </a:p>
        </p:txBody>
      </p:sp>
      <p:sp>
        <p:nvSpPr>
          <p:cNvPr id="12" name="TextBox 11"/>
          <p:cNvSpPr txBox="1"/>
          <p:nvPr/>
        </p:nvSpPr>
        <p:spPr>
          <a:xfrm>
            <a:off x="8178800" y="1968500"/>
            <a:ext cx="3556000" cy="241300"/>
          </a:xfrm>
          <a:prstGeom prst="rect">
            <a:avLst/>
          </a:prstGeom>
          <a:noFill/>
        </p:spPr>
        <p:txBody>
          <a:bodyPr wrap="square" lIns="0" rIns="0" tIns="0" bIns="0">
            <a:spAutoFit/>
          </a:bodyPr>
          <a:lstStyle/>
          <a:p>
            <a:pPr>
              <a:lnSpc>
                <a:spcPts val="1342"/>
              </a:lnSpc>
              <a:spcBef>
                <a:spcPts val="0"/>
              </a:spcBef>
              <a:spcAft>
                <a:spcPts val="0"/>
              </a:spcAft>
              <a:defRPr sz="1100" b="1">
                <a:solidFill>
                  <a:srgbClr val="A4C58F"/>
                </a:solidFill>
                <a:latin typeface="Arial"/>
              </a:defRPr>
            </a:pPr>
            <a:r>
              <a:t>EVIDENCE + TRADEOFF</a:t>
            </a:r>
          </a:p>
        </p:txBody>
      </p:sp>
      <p:sp>
        <p:nvSpPr>
          <p:cNvPr id="13" name="TextBox 12"/>
          <p:cNvSpPr txBox="1"/>
          <p:nvPr/>
        </p:nvSpPr>
        <p:spPr>
          <a:xfrm>
            <a:off x="8178800" y="2349500"/>
            <a:ext cx="3556000" cy="1231900"/>
          </a:xfrm>
          <a:prstGeom prst="rect">
            <a:avLst/>
          </a:prstGeom>
          <a:noFill/>
        </p:spPr>
        <p:txBody>
          <a:bodyPr wrap="square" lIns="0" rIns="0" tIns="0" bIns="0">
            <a:spAutoFit/>
          </a:bodyPr>
          <a:lstStyle/>
          <a:p>
            <a:pPr>
              <a:lnSpc>
                <a:spcPts val="1586"/>
              </a:lnSpc>
              <a:spcBef>
                <a:spcPts val="0"/>
              </a:spcBef>
              <a:spcAft>
                <a:spcPts val="0"/>
              </a:spcAft>
              <a:defRPr sz="1300" b="0">
                <a:solidFill>
                  <a:srgbClr val="D8E4D0"/>
                </a:solidFill>
                <a:latin typeface="Arial"/>
              </a:defRPr>
            </a:pPr>
            <a:r>
              <a:t>Same seed → same geometry.</a:t>
            </a:r>
          </a:p>
          <a:p>
            <a:pPr>
              <a:lnSpc>
                <a:spcPts val="1586"/>
              </a:lnSpc>
              <a:spcBef>
                <a:spcPts val="0"/>
              </a:spcBef>
              <a:spcAft>
                <a:spcPts val="0"/>
              </a:spcAft>
              <a:defRPr sz="1300" b="0">
                <a:solidFill>
                  <a:srgbClr val="D8E4D0"/>
                </a:solidFill>
                <a:latin typeface="Arial"/>
              </a:defRPr>
            </a:pPr>
            <a:r>
              <a:t>300 seeds checked for finite bounds.</a:t>
            </a:r>
          </a:p>
          <a:p>
            <a:pPr>
              <a:lnSpc>
                <a:spcPts val="1586"/>
              </a:lnSpc>
              <a:spcBef>
                <a:spcPts val="0"/>
              </a:spcBef>
              <a:spcAft>
                <a:spcPts val="0"/>
              </a:spcAft>
              <a:defRPr sz="1300" b="0">
                <a:solidFill>
                  <a:srgbClr val="D8E4D0"/>
                </a:solidFill>
                <a:latin typeface="Arial"/>
              </a:defRPr>
            </a:pPr>
            <a:r>
              <a:t>Intersections are not collision-resolved.</a:t>
            </a:r>
          </a:p>
        </p:txBody>
      </p:sp>
      <p:sp>
        <p:nvSpPr>
          <p:cNvPr id="14" name="Rounded Rectangle 13"/>
          <p:cNvSpPr/>
          <p:nvPr/>
        </p:nvSpPr>
        <p:spPr>
          <a:xfrm>
            <a:off x="457200" y="3632200"/>
            <a:ext cx="11277600" cy="5461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 y="3797300"/>
            <a:ext cx="10922000" cy="304800"/>
          </a:xfrm>
          <a:prstGeom prst="rect">
            <a:avLst/>
          </a:prstGeom>
          <a:noFill/>
        </p:spPr>
        <p:txBody>
          <a:bodyPr wrap="square" lIns="0" rIns="0" tIns="0" bIns="0">
            <a:spAutoFit/>
          </a:bodyPr>
          <a:lstStyle/>
          <a:p>
            <a:pPr>
              <a:lnSpc>
                <a:spcPts val="1707"/>
              </a:lnSpc>
              <a:spcBef>
                <a:spcPts val="0"/>
              </a:spcBef>
              <a:spcAft>
                <a:spcPts val="0"/>
              </a:spcAft>
              <a:defRPr sz="1400" b="0">
                <a:solidFill>
                  <a:srgbClr val="D8E7CE"/>
                </a:solidFill>
                <a:latin typeface="Arial"/>
              </a:defRPr>
            </a:pPr>
            <a:r>
              <a:t>Local reveal: g = smoothstep(0, 1, clamp((progress - start) / (end - start)))</a:t>
            </a:r>
          </a:p>
        </p:txBody>
      </p:sp>
      <p:sp>
        <p:nvSpPr>
          <p:cNvPr id="16" name="Rounded Rectangle 15"/>
          <p:cNvSpPr/>
          <p:nvPr/>
        </p:nvSpPr>
        <p:spPr>
          <a:xfrm>
            <a:off x="457200" y="4381500"/>
            <a:ext cx="2667000" cy="18161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3"/>
          <a:stretch>
            <a:fillRect/>
          </a:stretch>
        </p:blipFill>
        <p:spPr>
          <a:xfrm>
            <a:off x="780397" y="4445000"/>
            <a:ext cx="2020605" cy="1422399"/>
          </a:xfrm>
          <a:prstGeom prst="rect">
            <a:avLst/>
          </a:prstGeom>
        </p:spPr>
      </p:pic>
      <p:sp>
        <p:nvSpPr>
          <p:cNvPr id="18" name="TextBox 17"/>
          <p:cNvSpPr txBox="1"/>
          <p:nvPr/>
        </p:nvSpPr>
        <p:spPr>
          <a:xfrm>
            <a:off x="584200" y="5956300"/>
            <a:ext cx="2413000" cy="190500"/>
          </a:xfrm>
          <a:prstGeom prst="rect">
            <a:avLst/>
          </a:prstGeom>
          <a:noFill/>
        </p:spPr>
        <p:txBody>
          <a:bodyPr wrap="square" lIns="0" rIns="0" tIns="0" bIns="0">
            <a:spAutoFit/>
          </a:bodyPr>
          <a:lstStyle/>
          <a:p>
            <a:pPr>
              <a:lnSpc>
                <a:spcPts val="1098"/>
              </a:lnSpc>
              <a:spcBef>
                <a:spcPts val="0"/>
              </a:spcBef>
              <a:spcAft>
                <a:spcPts val="0"/>
              </a:spcAft>
              <a:defRPr sz="900" b="1">
                <a:solidFill>
                  <a:srgbClr val="B9D6A5"/>
                </a:solidFill>
                <a:latin typeface="Arial"/>
              </a:defRPr>
            </a:pPr>
            <a:r>
              <a:t>SPROUT</a:t>
            </a:r>
          </a:p>
        </p:txBody>
      </p:sp>
      <p:sp>
        <p:nvSpPr>
          <p:cNvPr id="19" name="Rounded Rectangle 18"/>
          <p:cNvSpPr/>
          <p:nvPr/>
        </p:nvSpPr>
        <p:spPr>
          <a:xfrm>
            <a:off x="3327400" y="4381500"/>
            <a:ext cx="2667000" cy="18161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4"/>
          <a:stretch>
            <a:fillRect/>
          </a:stretch>
        </p:blipFill>
        <p:spPr>
          <a:xfrm>
            <a:off x="3650597" y="4445000"/>
            <a:ext cx="2020605" cy="1422399"/>
          </a:xfrm>
          <a:prstGeom prst="rect">
            <a:avLst/>
          </a:prstGeom>
        </p:spPr>
      </p:pic>
      <p:sp>
        <p:nvSpPr>
          <p:cNvPr id="21" name="TextBox 20"/>
          <p:cNvSpPr txBox="1"/>
          <p:nvPr/>
        </p:nvSpPr>
        <p:spPr>
          <a:xfrm>
            <a:off x="3454400" y="5956300"/>
            <a:ext cx="2413000" cy="190500"/>
          </a:xfrm>
          <a:prstGeom prst="rect">
            <a:avLst/>
          </a:prstGeom>
          <a:noFill/>
        </p:spPr>
        <p:txBody>
          <a:bodyPr wrap="square" lIns="0" rIns="0" tIns="0" bIns="0">
            <a:spAutoFit/>
          </a:bodyPr>
          <a:lstStyle/>
          <a:p>
            <a:pPr>
              <a:lnSpc>
                <a:spcPts val="1098"/>
              </a:lnSpc>
              <a:spcBef>
                <a:spcPts val="0"/>
              </a:spcBef>
              <a:spcAft>
                <a:spcPts val="0"/>
              </a:spcAft>
              <a:defRPr sz="900" b="1">
                <a:solidFill>
                  <a:srgbClr val="B9D6A5"/>
                </a:solidFill>
                <a:latin typeface="Arial"/>
              </a:defRPr>
            </a:pPr>
            <a:r>
              <a:t>STEM</a:t>
            </a:r>
          </a:p>
        </p:txBody>
      </p:sp>
      <p:sp>
        <p:nvSpPr>
          <p:cNvPr id="22" name="Rounded Rectangle 21"/>
          <p:cNvSpPr/>
          <p:nvPr/>
        </p:nvSpPr>
        <p:spPr>
          <a:xfrm>
            <a:off x="6197600" y="4381500"/>
            <a:ext cx="2667000" cy="18161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5"/>
          <a:stretch>
            <a:fillRect/>
          </a:stretch>
        </p:blipFill>
        <p:spPr>
          <a:xfrm>
            <a:off x="6520797" y="4445000"/>
            <a:ext cx="2020605" cy="1422399"/>
          </a:xfrm>
          <a:prstGeom prst="rect">
            <a:avLst/>
          </a:prstGeom>
        </p:spPr>
      </p:pic>
      <p:sp>
        <p:nvSpPr>
          <p:cNvPr id="24" name="TextBox 23"/>
          <p:cNvSpPr txBox="1"/>
          <p:nvPr/>
        </p:nvSpPr>
        <p:spPr>
          <a:xfrm>
            <a:off x="6324600" y="5956300"/>
            <a:ext cx="2413000" cy="190500"/>
          </a:xfrm>
          <a:prstGeom prst="rect">
            <a:avLst/>
          </a:prstGeom>
          <a:noFill/>
        </p:spPr>
        <p:txBody>
          <a:bodyPr wrap="square" lIns="0" rIns="0" tIns="0" bIns="0">
            <a:spAutoFit/>
          </a:bodyPr>
          <a:lstStyle/>
          <a:p>
            <a:pPr>
              <a:lnSpc>
                <a:spcPts val="1098"/>
              </a:lnSpc>
              <a:spcBef>
                <a:spcPts val="0"/>
              </a:spcBef>
              <a:spcAft>
                <a:spcPts val="0"/>
              </a:spcAft>
              <a:defRPr sz="900" b="1">
                <a:solidFill>
                  <a:srgbClr val="B9D6A5"/>
                </a:solidFill>
                <a:latin typeface="Arial"/>
              </a:defRPr>
            </a:pPr>
            <a:r>
              <a:t>BRANCHES</a:t>
            </a:r>
          </a:p>
        </p:txBody>
      </p:sp>
      <p:sp>
        <p:nvSpPr>
          <p:cNvPr id="25" name="Rounded Rectangle 24"/>
          <p:cNvSpPr/>
          <p:nvPr/>
        </p:nvSpPr>
        <p:spPr>
          <a:xfrm>
            <a:off x="9067800" y="4381500"/>
            <a:ext cx="2667000" cy="18161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9390997" y="4445000"/>
            <a:ext cx="2020605" cy="1422399"/>
          </a:xfrm>
          <a:prstGeom prst="rect">
            <a:avLst/>
          </a:prstGeom>
        </p:spPr>
      </p:pic>
      <p:sp>
        <p:nvSpPr>
          <p:cNvPr id="27" name="TextBox 26"/>
          <p:cNvSpPr txBox="1"/>
          <p:nvPr/>
        </p:nvSpPr>
        <p:spPr>
          <a:xfrm>
            <a:off x="9194800" y="5956300"/>
            <a:ext cx="2413000" cy="190500"/>
          </a:xfrm>
          <a:prstGeom prst="rect">
            <a:avLst/>
          </a:prstGeom>
          <a:noFill/>
        </p:spPr>
        <p:txBody>
          <a:bodyPr wrap="square" lIns="0" rIns="0" tIns="0" bIns="0">
            <a:spAutoFit/>
          </a:bodyPr>
          <a:lstStyle/>
          <a:p>
            <a:pPr>
              <a:lnSpc>
                <a:spcPts val="1098"/>
              </a:lnSpc>
              <a:spcBef>
                <a:spcPts val="0"/>
              </a:spcBef>
              <a:spcAft>
                <a:spcPts val="0"/>
              </a:spcAft>
              <a:defRPr sz="900" b="1">
                <a:solidFill>
                  <a:srgbClr val="B9D6A5"/>
                </a:solidFill>
                <a:latin typeface="Arial"/>
              </a:defRPr>
            </a:pPr>
            <a:r>
              <a:t>LEAVES + BLOOM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511"/>
        </a:solidFill>
        <a:effectLst/>
      </p:bgPr>
    </p:bg>
    <p:spTree>
      <p:nvGrpSpPr>
        <p:cNvPr id="1" name=""/>
        <p:cNvGrpSpPr/>
        <p:nvPr/>
      </p:nvGrpSpPr>
      <p:grpSpPr/>
      <p:sp>
        <p:nvSpPr>
          <p:cNvPr id="2" name="TextBox 1"/>
          <p:cNvSpPr txBox="1"/>
          <p:nvPr/>
        </p:nvSpPr>
        <p:spPr>
          <a:xfrm>
            <a:off x="457200" y="279400"/>
            <a:ext cx="10033000" cy="215900"/>
          </a:xfrm>
          <a:prstGeom prst="rect">
            <a:avLst/>
          </a:prstGeom>
          <a:noFill/>
        </p:spPr>
        <p:txBody>
          <a:bodyPr wrap="square" lIns="0" rIns="0" tIns="0" bIns="0">
            <a:spAutoFit/>
          </a:bodyPr>
          <a:lstStyle/>
          <a:p>
            <a:pPr>
              <a:lnSpc>
                <a:spcPts val="1098"/>
              </a:lnSpc>
              <a:spcBef>
                <a:spcPts val="0"/>
              </a:spcBef>
              <a:spcAft>
                <a:spcPts val="0"/>
              </a:spcAft>
              <a:defRPr sz="900" b="1">
                <a:solidFill>
                  <a:srgbClr val="A4C58F"/>
                </a:solidFill>
                <a:latin typeface="Arial"/>
              </a:defRPr>
            </a:pPr>
            <a:r>
              <a:t>LUMINA GARDEN / ALPHA 04 / MID-CRIT</a:t>
            </a:r>
          </a:p>
        </p:txBody>
      </p:sp>
      <p:sp>
        <p:nvSpPr>
          <p:cNvPr id="3" name="TextBox 2"/>
          <p:cNvSpPr txBox="1"/>
          <p:nvPr/>
        </p:nvSpPr>
        <p:spPr>
          <a:xfrm>
            <a:off x="457200" y="698500"/>
            <a:ext cx="11303000" cy="571500"/>
          </a:xfrm>
          <a:prstGeom prst="rect">
            <a:avLst/>
          </a:prstGeom>
          <a:noFill/>
        </p:spPr>
        <p:txBody>
          <a:bodyPr wrap="square" lIns="0" rIns="0" tIns="0" bIns="0">
            <a:spAutoFit/>
          </a:bodyPr>
          <a:lstStyle/>
          <a:p>
            <a:pPr>
              <a:lnSpc>
                <a:spcPts val="3415"/>
              </a:lnSpc>
              <a:spcBef>
                <a:spcPts val="0"/>
              </a:spcBef>
              <a:spcAft>
                <a:spcPts val="0"/>
              </a:spcAft>
              <a:defRPr sz="2800" b="1">
                <a:solidFill>
                  <a:srgbClr val="E7EFDF"/>
                </a:solidFill>
                <a:latin typeface="Arial"/>
              </a:defRPr>
            </a:pPr>
            <a:r>
              <a:t>Challenge 1 / Keep wind and growth connected.</a:t>
            </a:r>
          </a:p>
        </p:txBody>
      </p:sp>
      <p:sp>
        <p:nvSpPr>
          <p:cNvPr id="4" name="TextBox 3"/>
          <p:cNvSpPr txBox="1"/>
          <p:nvPr/>
        </p:nvSpPr>
        <p:spPr>
          <a:xfrm>
            <a:off x="457200" y="1308100"/>
            <a:ext cx="11176000" cy="444500"/>
          </a:xfrm>
          <a:prstGeom prst="rect">
            <a:avLst/>
          </a:prstGeom>
          <a:noFill/>
        </p:spPr>
        <p:txBody>
          <a:bodyPr wrap="square" lIns="0" rIns="0" tIns="0" bIns="0">
            <a:spAutoFit/>
          </a:bodyPr>
          <a:lstStyle/>
          <a:p>
            <a:pPr>
              <a:lnSpc>
                <a:spcPts val="1464"/>
              </a:lnSpc>
              <a:spcBef>
                <a:spcPts val="0"/>
              </a:spcBef>
              <a:spcAft>
                <a:spcPts val="0"/>
              </a:spcAft>
              <a:defRPr sz="1200" b="0">
                <a:solidFill>
                  <a:srgbClr val="A8BBA0"/>
                </a:solidFill>
                <a:latin typeface="Arial"/>
              </a:defRPr>
            </a:pPr>
            <a:r>
              <a:t>One deformation field keeps attachment positions coherent, including during staged growth.</a:t>
            </a:r>
          </a:p>
        </p:txBody>
      </p:sp>
      <p:cxnSp>
        <p:nvCxnSpPr>
          <p:cNvPr id="5" name="Connector 4"/>
          <p:cNvCxnSpPr/>
          <p:nvPr/>
        </p:nvCxnSpPr>
        <p:spPr>
          <a:xfrm>
            <a:off x="457200" y="6400800"/>
            <a:ext cx="11277600" cy="0"/>
          </a:xfrm>
          <a:prstGeom prst="line">
            <a:avLst/>
          </a:prstGeom>
          <a:ln w="12700">
            <a:solidFill>
              <a:srgbClr val="3147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53200"/>
            <a:ext cx="8255000" cy="177800"/>
          </a:xfrm>
          <a:prstGeom prst="rect">
            <a:avLst/>
          </a:prstGeom>
          <a:noFill/>
        </p:spPr>
        <p:txBody>
          <a:bodyPr wrap="square" lIns="0" rIns="0" tIns="0" bIns="0">
            <a:spAutoFit/>
          </a:bodyPr>
          <a:lstStyle/>
          <a:p>
            <a:pPr>
              <a:lnSpc>
                <a:spcPts val="976"/>
              </a:lnSpc>
              <a:spcBef>
                <a:spcPts val="0"/>
              </a:spcBef>
              <a:spcAft>
                <a:spcPts val="0"/>
              </a:spcAft>
              <a:defRPr sz="800" b="0">
                <a:solidFill>
                  <a:srgbClr val="8EA581"/>
                </a:solidFill>
                <a:latin typeface="Arial"/>
              </a:defRPr>
            </a:pPr>
            <a:r>
              <a:t>Kartik Patel &amp; Safa Akbar   |   Safa: 1:45-3:10</a:t>
            </a:r>
          </a:p>
        </p:txBody>
      </p:sp>
      <p:sp>
        <p:nvSpPr>
          <p:cNvPr id="7" name="TextBox 6"/>
          <p:cNvSpPr txBox="1"/>
          <p:nvPr/>
        </p:nvSpPr>
        <p:spPr>
          <a:xfrm>
            <a:off x="11074400" y="6540500"/>
            <a:ext cx="698500" cy="190500"/>
          </a:xfrm>
          <a:prstGeom prst="rect">
            <a:avLst/>
          </a:prstGeom>
          <a:noFill/>
        </p:spPr>
        <p:txBody>
          <a:bodyPr wrap="square" lIns="0" rIns="0" tIns="0" bIns="0">
            <a:spAutoFit/>
          </a:bodyPr>
          <a:lstStyle/>
          <a:p>
            <a:pPr>
              <a:lnSpc>
                <a:spcPts val="1098"/>
              </a:lnSpc>
              <a:spcBef>
                <a:spcPts val="0"/>
              </a:spcBef>
              <a:spcAft>
                <a:spcPts val="0"/>
              </a:spcAft>
              <a:defRPr sz="900" b="0">
                <a:solidFill>
                  <a:srgbClr val="B6D0A5"/>
                </a:solidFill>
                <a:latin typeface="Arial"/>
              </a:defRPr>
            </a:pPr>
            <a:r>
              <a:t>3 / 4</a:t>
            </a:r>
          </a:p>
        </p:txBody>
      </p:sp>
      <p:sp>
        <p:nvSpPr>
          <p:cNvPr id="8" name="Rounded Rectangle 7"/>
          <p:cNvSpPr/>
          <p:nvPr/>
        </p:nvSpPr>
        <p:spPr>
          <a:xfrm>
            <a:off x="457200" y="1955800"/>
            <a:ext cx="4826000" cy="42418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3100" y="2159000"/>
            <a:ext cx="4381500" cy="546100"/>
          </a:xfrm>
          <a:prstGeom prst="rect">
            <a:avLst/>
          </a:prstGeom>
          <a:noFill/>
        </p:spPr>
        <p:txBody>
          <a:bodyPr wrap="square" lIns="0" rIns="0" tIns="0" bIns="0">
            <a:spAutoFit/>
          </a:bodyPr>
          <a:lstStyle/>
          <a:p>
            <a:pPr>
              <a:lnSpc>
                <a:spcPts val="2196"/>
              </a:lnSpc>
              <a:spcBef>
                <a:spcPts val="0"/>
              </a:spcBef>
              <a:spcAft>
                <a:spcPts val="0"/>
              </a:spcAft>
              <a:defRPr sz="1800" b="1">
                <a:solidFill>
                  <a:srgbClr val="E3EEDB"/>
                </a:solidFill>
                <a:latin typeface="Arial"/>
              </a:defRPr>
            </a:pPr>
            <a:r>
              <a:t>Instance placement first.</a:t>
            </a:r>
          </a:p>
          <a:p>
            <a:pPr>
              <a:lnSpc>
                <a:spcPts val="2196"/>
              </a:lnSpc>
              <a:spcBef>
                <a:spcPts val="0"/>
              </a:spcBef>
              <a:spcAft>
                <a:spcPts val="0"/>
              </a:spcAft>
              <a:defRPr sz="1800" b="1">
                <a:solidFill>
                  <a:srgbClr val="E3EEDB"/>
                </a:solidFill>
                <a:latin typeface="Arial"/>
              </a:defRPr>
            </a:pPr>
            <a:r>
              <a:t>Shared plant-space bend second.</a:t>
            </a:r>
          </a:p>
        </p:txBody>
      </p:sp>
      <p:sp>
        <p:nvSpPr>
          <p:cNvPr id="10" name="TextBox 9"/>
          <p:cNvSpPr txBox="1"/>
          <p:nvPr/>
        </p:nvSpPr>
        <p:spPr>
          <a:xfrm>
            <a:off x="673100" y="2959100"/>
            <a:ext cx="4381500" cy="723900"/>
          </a:xfrm>
          <a:prstGeom prst="rect">
            <a:avLst/>
          </a:prstGeom>
          <a:noFill/>
        </p:spPr>
        <p:txBody>
          <a:bodyPr wrap="square" lIns="0" rIns="0" tIns="0" bIns="0">
            <a:spAutoFit/>
          </a:bodyPr>
          <a:lstStyle/>
          <a:p>
            <a:pPr>
              <a:lnSpc>
                <a:spcPts val="2074"/>
              </a:lnSpc>
              <a:spcBef>
                <a:spcPts val="0"/>
              </a:spcBef>
              <a:spcAft>
                <a:spcPts val="0"/>
              </a:spcAft>
              <a:defRPr sz="1700" b="0">
                <a:solidFill>
                  <a:srgbClr val="B9DAA5"/>
                </a:solidFill>
                <a:latin typeface="Arial"/>
              </a:defRPr>
            </a:pPr>
            <a:r>
              <a:t>x' = x + kx(t) · max(y, 0)^2</a:t>
            </a:r>
          </a:p>
          <a:p>
            <a:pPr>
              <a:lnSpc>
                <a:spcPts val="2074"/>
              </a:lnSpc>
              <a:spcBef>
                <a:spcPts val="0"/>
              </a:spcBef>
              <a:spcAft>
                <a:spcPts val="0"/>
              </a:spcAft>
              <a:defRPr sz="1700" b="0">
                <a:solidFill>
                  <a:srgbClr val="B9DAA5"/>
                </a:solidFill>
                <a:latin typeface="Arial"/>
              </a:defRPr>
            </a:pPr>
            <a:r>
              <a:t>z' = z + kz(t) · max(y, 0)^2</a:t>
            </a:r>
          </a:p>
        </p:txBody>
      </p:sp>
      <p:sp>
        <p:nvSpPr>
          <p:cNvPr id="11" name="TextBox 10"/>
          <p:cNvSpPr txBox="1"/>
          <p:nvPr/>
        </p:nvSpPr>
        <p:spPr>
          <a:xfrm>
            <a:off x="673100" y="3937000"/>
            <a:ext cx="4381500" cy="1943100"/>
          </a:xfrm>
          <a:prstGeom prst="rect">
            <a:avLst/>
          </a:prstGeom>
          <a:noFill/>
        </p:spPr>
        <p:txBody>
          <a:bodyPr wrap="square" lIns="0" rIns="0" tIns="0" bIns="0">
            <a:spAutoFit/>
          </a:bodyPr>
          <a:lstStyle/>
          <a:p>
            <a:pPr>
              <a:lnSpc>
                <a:spcPts val="1586"/>
              </a:lnSpc>
              <a:spcBef>
                <a:spcPts val="0"/>
              </a:spcBef>
              <a:spcAft>
                <a:spcPts val="0"/>
              </a:spcAft>
              <a:defRPr sz="1300" b="0">
                <a:solidFill>
                  <a:srgbClr val="D5E2CC"/>
                </a:solidFill>
                <a:latin typeface="Arial"/>
              </a:defRPr>
            </a:pPr>
            <a:r>
              <a:t>Root stays anchored; tips move more.</a:t>
            </a:r>
          </a:p>
          <a:p>
            <a:pPr>
              <a:lnSpc>
                <a:spcPts val="1586"/>
              </a:lnSpc>
              <a:spcBef>
                <a:spcPts val="0"/>
              </a:spcBef>
              <a:spcAft>
                <a:spcPts val="0"/>
              </a:spcAft>
              <a:defRPr sz="1300" b="0">
                <a:solidFill>
                  <a:srgbClr val="D5E2CC"/>
                </a:solidFill>
                <a:latin typeface="Arial"/>
              </a:defRPr>
            </a:pPr>
            <a:r>
              <a:t>Seed-derived phase varies the sway.</a:t>
            </a:r>
          </a:p>
          <a:p>
            <a:pPr>
              <a:lnSpc>
                <a:spcPts val="1586"/>
              </a:lnSpc>
              <a:spcBef>
                <a:spcPts val="0"/>
              </a:spcBef>
              <a:spcAft>
                <a:spcPts val="0"/>
              </a:spcAft>
              <a:defRPr sz="1300" b="0">
                <a:solidFill>
                  <a:srgbClr val="D5E2CC"/>
                </a:solidFill>
                <a:latin typeface="Arial"/>
              </a:defRPr>
            </a:pPr>
          </a:p>
          <a:p>
            <a:pPr>
              <a:lnSpc>
                <a:spcPts val="1586"/>
              </a:lnSpc>
              <a:spcBef>
                <a:spcPts val="0"/>
              </a:spcBef>
              <a:spcAft>
                <a:spcPts val="0"/>
              </a:spcAft>
              <a:defRPr sz="1300" b="0">
                <a:solidFill>
                  <a:srgbClr val="D5E2CC"/>
                </a:solidFill>
                <a:latin typeface="Arial"/>
              </a:defRPr>
            </a:pPr>
            <a:r>
              <a:t>Normals: inverse-transpose Jacobian.</a:t>
            </a:r>
          </a:p>
          <a:p>
            <a:pPr>
              <a:lnSpc>
                <a:spcPts val="1586"/>
              </a:lnSpc>
              <a:spcBef>
                <a:spcPts val="0"/>
              </a:spcBef>
              <a:spcAft>
                <a:spcPts val="0"/>
              </a:spcAft>
              <a:defRPr sz="1300" b="0">
                <a:solidFill>
                  <a:srgbClr val="D5E2CC"/>
                </a:solidFill>
                <a:latin typeface="Arial"/>
              </a:defRPr>
            </a:pPr>
            <a:r>
              <a:t>Light anchors: same analytic CPU field.</a:t>
            </a:r>
          </a:p>
          <a:p>
            <a:pPr>
              <a:lnSpc>
                <a:spcPts val="1586"/>
              </a:lnSpc>
              <a:spcBef>
                <a:spcPts val="0"/>
              </a:spcBef>
              <a:spcAft>
                <a:spcPts val="0"/>
              </a:spcAft>
              <a:defRPr sz="1300" b="0">
                <a:solidFill>
                  <a:srgbClr val="D5E2CC"/>
                </a:solidFill>
                <a:latin typeface="Arial"/>
              </a:defRPr>
            </a:pPr>
            <a:r>
              <a:t>Mature organ matrices stay unchanged.</a:t>
            </a:r>
          </a:p>
        </p:txBody>
      </p:sp>
      <p:pic>
        <p:nvPicPr>
          <p:cNvPr id="12" name="Picture 11" descr="image.png"/>
          <p:cNvPicPr>
            <a:picLocks noChangeAspect="1"/>
          </p:cNvPicPr>
          <p:nvPr/>
        </p:nvPicPr>
        <p:blipFill>
          <a:blip r:embed="rId3"/>
          <a:stretch>
            <a:fillRect/>
          </a:stretch>
        </p:blipFill>
        <p:spPr>
          <a:xfrm>
            <a:off x="5804764" y="1993900"/>
            <a:ext cx="2462071" cy="2070100"/>
          </a:xfrm>
          <a:prstGeom prst="rect">
            <a:avLst/>
          </a:prstGeom>
        </p:spPr>
      </p:pic>
      <p:pic>
        <p:nvPicPr>
          <p:cNvPr id="13" name="Picture 12" descr="image.png"/>
          <p:cNvPicPr>
            <a:picLocks noChangeAspect="1"/>
          </p:cNvPicPr>
          <p:nvPr/>
        </p:nvPicPr>
        <p:blipFill>
          <a:blip r:embed="rId4"/>
          <a:stretch>
            <a:fillRect/>
          </a:stretch>
        </p:blipFill>
        <p:spPr>
          <a:xfrm>
            <a:off x="9043264" y="1993900"/>
            <a:ext cx="2462071" cy="2070100"/>
          </a:xfrm>
          <a:prstGeom prst="rect">
            <a:avLst/>
          </a:prstGeom>
        </p:spPr>
      </p:pic>
      <p:sp>
        <p:nvSpPr>
          <p:cNvPr id="14" name="TextBox 13"/>
          <p:cNvSpPr txBox="1"/>
          <p:nvPr/>
        </p:nvSpPr>
        <p:spPr>
          <a:xfrm>
            <a:off x="5727700" y="4102100"/>
            <a:ext cx="2730500" cy="228600"/>
          </a:xfrm>
          <a:prstGeom prst="rect">
            <a:avLst/>
          </a:prstGeom>
          <a:noFill/>
        </p:spPr>
        <p:txBody>
          <a:bodyPr wrap="square" lIns="0" rIns="0" tIns="0" bIns="0">
            <a:spAutoFit/>
          </a:bodyPr>
          <a:lstStyle/>
          <a:p>
            <a:pPr>
              <a:lnSpc>
                <a:spcPts val="1098"/>
              </a:lnSpc>
              <a:spcBef>
                <a:spcPts val="0"/>
              </a:spcBef>
              <a:spcAft>
                <a:spcPts val="0"/>
              </a:spcAft>
              <a:defRPr sz="900" b="1">
                <a:solidFill>
                  <a:srgbClr val="A4C58F"/>
                </a:solidFill>
                <a:latin typeface="Arial"/>
              </a:defRPr>
            </a:pPr>
            <a:r>
              <a:t>WIND 0% / SAME LAYOUT</a:t>
            </a:r>
          </a:p>
        </p:txBody>
      </p:sp>
      <p:sp>
        <p:nvSpPr>
          <p:cNvPr id="15" name="TextBox 14"/>
          <p:cNvSpPr txBox="1"/>
          <p:nvPr/>
        </p:nvSpPr>
        <p:spPr>
          <a:xfrm>
            <a:off x="8966200" y="4102100"/>
            <a:ext cx="2730500" cy="228600"/>
          </a:xfrm>
          <a:prstGeom prst="rect">
            <a:avLst/>
          </a:prstGeom>
          <a:noFill/>
        </p:spPr>
        <p:txBody>
          <a:bodyPr wrap="square" lIns="0" rIns="0" tIns="0" bIns="0">
            <a:spAutoFit/>
          </a:bodyPr>
          <a:lstStyle/>
          <a:p>
            <a:pPr>
              <a:lnSpc>
                <a:spcPts val="1098"/>
              </a:lnSpc>
              <a:spcBef>
                <a:spcPts val="0"/>
              </a:spcBef>
              <a:spcAft>
                <a:spcPts val="0"/>
              </a:spcAft>
              <a:defRPr sz="900" b="1">
                <a:solidFill>
                  <a:srgbClr val="A4C58F"/>
                </a:solidFill>
                <a:latin typeface="Arial"/>
              </a:defRPr>
            </a:pPr>
            <a:r>
              <a:t>WIND 100% / SAME LAYOUT</a:t>
            </a:r>
          </a:p>
        </p:txBody>
      </p:sp>
      <p:sp>
        <p:nvSpPr>
          <p:cNvPr id="16" name="Rounded Rectangle 15"/>
          <p:cNvSpPr/>
          <p:nvPr/>
        </p:nvSpPr>
        <p:spPr>
          <a:xfrm>
            <a:off x="5575300" y="4584700"/>
            <a:ext cx="6159500" cy="16129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78500" y="4762500"/>
            <a:ext cx="5715000" cy="254000"/>
          </a:xfrm>
          <a:prstGeom prst="rect">
            <a:avLst/>
          </a:prstGeom>
          <a:noFill/>
        </p:spPr>
        <p:txBody>
          <a:bodyPr wrap="square" lIns="0" rIns="0" tIns="0" bIns="0">
            <a:spAutoFit/>
          </a:bodyPr>
          <a:lstStyle/>
          <a:p>
            <a:pPr>
              <a:lnSpc>
                <a:spcPts val="1342"/>
              </a:lnSpc>
              <a:spcBef>
                <a:spcPts val="0"/>
              </a:spcBef>
              <a:spcAft>
                <a:spcPts val="0"/>
              </a:spcAft>
              <a:defRPr sz="1100" b="1">
                <a:solidFill>
                  <a:srgbClr val="A4C58F"/>
                </a:solidFill>
                <a:latin typeface="Arial"/>
              </a:defRPr>
            </a:pPr>
            <a:r>
              <a:t>COHERENCE AT LOW CPU COST</a:t>
            </a:r>
          </a:p>
        </p:txBody>
      </p:sp>
      <p:sp>
        <p:nvSpPr>
          <p:cNvPr id="18" name="TextBox 17"/>
          <p:cNvSpPr txBox="1"/>
          <p:nvPr/>
        </p:nvSpPr>
        <p:spPr>
          <a:xfrm>
            <a:off x="5778500" y="5130800"/>
            <a:ext cx="5715000" cy="889000"/>
          </a:xfrm>
          <a:prstGeom prst="rect">
            <a:avLst/>
          </a:prstGeom>
          <a:noFill/>
        </p:spPr>
        <p:txBody>
          <a:bodyPr wrap="square" lIns="0" rIns="0" tIns="0" bIns="0">
            <a:spAutoFit/>
          </a:bodyPr>
          <a:lstStyle/>
          <a:p>
            <a:pPr>
              <a:lnSpc>
                <a:spcPts val="1464"/>
              </a:lnSpc>
              <a:spcBef>
                <a:spcPts val="0"/>
              </a:spcBef>
              <a:spcAft>
                <a:spcPts val="0"/>
              </a:spcAft>
              <a:defRPr sz="1200" b="0">
                <a:solidFill>
                  <a:srgbClr val="D5E2CC"/>
                </a:solidFill>
                <a:latin typeface="Arial"/>
              </a:defRPr>
            </a:pPr>
            <a:r>
              <a:t>Wind updates shader uniforms, not every organ matrix.</a:t>
            </a:r>
          </a:p>
          <a:p>
            <a:pPr>
              <a:lnSpc>
                <a:spcPts val="1464"/>
              </a:lnSpc>
              <a:spcBef>
                <a:spcPts val="0"/>
              </a:spcBef>
              <a:spcAft>
                <a:spcPts val="0"/>
              </a:spcAft>
              <a:defRPr sz="1200" b="0">
                <a:solidFill>
                  <a:srgbClr val="D5E2CC"/>
                </a:solidFill>
                <a:latin typeface="Arial"/>
              </a:defRPr>
            </a:pPr>
            <a:r>
              <a:t>The same field deforms attached parts continuously.</a:t>
            </a:r>
          </a:p>
          <a:p>
            <a:pPr>
              <a:lnSpc>
                <a:spcPts val="1464"/>
              </a:lnSpc>
              <a:spcBef>
                <a:spcPts val="0"/>
              </a:spcBef>
              <a:spcAft>
                <a:spcPts val="0"/>
              </a:spcAft>
              <a:defRPr sz="1200" b="0">
                <a:solidFill>
                  <a:srgbClr val="D5E2CC"/>
                </a:solidFill>
                <a:latin typeface="Arial"/>
              </a:defRPr>
            </a:pPr>
            <a:r>
              <a:t>Tradeoff: no inertia, collision response, or exact length conservation.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1511"/>
        </a:solidFill>
        <a:effectLst/>
      </p:bgPr>
    </p:bg>
    <p:spTree>
      <p:nvGrpSpPr>
        <p:cNvPr id="1" name=""/>
        <p:cNvGrpSpPr/>
        <p:nvPr/>
      </p:nvGrpSpPr>
      <p:grpSpPr/>
      <p:sp>
        <p:nvSpPr>
          <p:cNvPr id="2" name="TextBox 1"/>
          <p:cNvSpPr txBox="1"/>
          <p:nvPr/>
        </p:nvSpPr>
        <p:spPr>
          <a:xfrm>
            <a:off x="457200" y="279400"/>
            <a:ext cx="10033000" cy="215900"/>
          </a:xfrm>
          <a:prstGeom prst="rect">
            <a:avLst/>
          </a:prstGeom>
          <a:noFill/>
        </p:spPr>
        <p:txBody>
          <a:bodyPr wrap="square" lIns="0" rIns="0" tIns="0" bIns="0">
            <a:spAutoFit/>
          </a:bodyPr>
          <a:lstStyle/>
          <a:p>
            <a:pPr>
              <a:lnSpc>
                <a:spcPts val="1098"/>
              </a:lnSpc>
              <a:spcBef>
                <a:spcPts val="0"/>
              </a:spcBef>
              <a:spcAft>
                <a:spcPts val="0"/>
              </a:spcAft>
              <a:defRPr sz="900" b="1">
                <a:solidFill>
                  <a:srgbClr val="A4C58F"/>
                </a:solidFill>
                <a:latin typeface="Arial"/>
              </a:defRPr>
            </a:pPr>
            <a:r>
              <a:t>LUMINA GARDEN / ALPHA 04 / MID-CRIT</a:t>
            </a:r>
          </a:p>
        </p:txBody>
      </p:sp>
      <p:sp>
        <p:nvSpPr>
          <p:cNvPr id="3" name="TextBox 2"/>
          <p:cNvSpPr txBox="1"/>
          <p:nvPr/>
        </p:nvSpPr>
        <p:spPr>
          <a:xfrm>
            <a:off x="457200" y="698500"/>
            <a:ext cx="11303000" cy="571500"/>
          </a:xfrm>
          <a:prstGeom prst="rect">
            <a:avLst/>
          </a:prstGeom>
          <a:noFill/>
        </p:spPr>
        <p:txBody>
          <a:bodyPr wrap="square" lIns="0" rIns="0" tIns="0" bIns="0">
            <a:spAutoFit/>
          </a:bodyPr>
          <a:lstStyle/>
          <a:p>
            <a:pPr>
              <a:lnSpc>
                <a:spcPts val="3415"/>
              </a:lnSpc>
              <a:spcBef>
                <a:spcPts val="0"/>
              </a:spcBef>
              <a:spcAft>
                <a:spcPts val="0"/>
              </a:spcAft>
              <a:defRPr sz="2800" b="1">
                <a:solidFill>
                  <a:srgbClr val="E7EFDF"/>
                </a:solidFill>
                <a:latin typeface="Arial"/>
              </a:defRPr>
            </a:pPr>
            <a:r>
              <a:t>Challenge 2 / Glow within a real-time budget.</a:t>
            </a:r>
          </a:p>
        </p:txBody>
      </p:sp>
      <p:sp>
        <p:nvSpPr>
          <p:cNvPr id="4" name="TextBox 3"/>
          <p:cNvSpPr txBox="1"/>
          <p:nvPr/>
        </p:nvSpPr>
        <p:spPr>
          <a:xfrm>
            <a:off x="457200" y="1308100"/>
            <a:ext cx="11176000" cy="444500"/>
          </a:xfrm>
          <a:prstGeom prst="rect">
            <a:avLst/>
          </a:prstGeom>
          <a:noFill/>
        </p:spPr>
        <p:txBody>
          <a:bodyPr wrap="square" lIns="0" rIns="0" tIns="0" bIns="0">
            <a:spAutoFit/>
          </a:bodyPr>
          <a:lstStyle/>
          <a:p>
            <a:pPr>
              <a:lnSpc>
                <a:spcPts val="1464"/>
              </a:lnSpc>
              <a:spcBef>
                <a:spcPts val="0"/>
              </a:spcBef>
              <a:spcAft>
                <a:spcPts val="0"/>
              </a:spcAft>
              <a:defRPr sz="1200" b="0">
                <a:solidFill>
                  <a:srgbClr val="A8BBA0"/>
                </a:solidFill>
                <a:latin typeface="Arial"/>
              </a:defRPr>
            </a:pPr>
            <a:r>
              <a:t>Emission, illumination, and bloom have different jobs; profiling has to include the complete frame.</a:t>
            </a:r>
          </a:p>
        </p:txBody>
      </p:sp>
      <p:cxnSp>
        <p:nvCxnSpPr>
          <p:cNvPr id="5" name="Connector 4"/>
          <p:cNvCxnSpPr/>
          <p:nvPr/>
        </p:nvCxnSpPr>
        <p:spPr>
          <a:xfrm>
            <a:off x="457200" y="6400800"/>
            <a:ext cx="11277600" cy="0"/>
          </a:xfrm>
          <a:prstGeom prst="line">
            <a:avLst/>
          </a:prstGeom>
          <a:ln w="12700">
            <a:solidFill>
              <a:srgbClr val="31472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53200"/>
            <a:ext cx="8255000" cy="177800"/>
          </a:xfrm>
          <a:prstGeom prst="rect">
            <a:avLst/>
          </a:prstGeom>
          <a:noFill/>
        </p:spPr>
        <p:txBody>
          <a:bodyPr wrap="square" lIns="0" rIns="0" tIns="0" bIns="0">
            <a:spAutoFit/>
          </a:bodyPr>
          <a:lstStyle/>
          <a:p>
            <a:pPr>
              <a:lnSpc>
                <a:spcPts val="976"/>
              </a:lnSpc>
              <a:spcBef>
                <a:spcPts val="0"/>
              </a:spcBef>
              <a:spcAft>
                <a:spcPts val="0"/>
              </a:spcAft>
              <a:defRPr sz="800" b="0">
                <a:solidFill>
                  <a:srgbClr val="8EA581"/>
                </a:solidFill>
                <a:latin typeface="Arial"/>
              </a:defRPr>
            </a:pPr>
            <a:r>
              <a:t>Kartik Patel &amp; Safa Akbar   |   Safa: 3:10-4:30</a:t>
            </a:r>
          </a:p>
        </p:txBody>
      </p:sp>
      <p:sp>
        <p:nvSpPr>
          <p:cNvPr id="7" name="TextBox 6"/>
          <p:cNvSpPr txBox="1"/>
          <p:nvPr/>
        </p:nvSpPr>
        <p:spPr>
          <a:xfrm>
            <a:off x="11074400" y="6540500"/>
            <a:ext cx="698500" cy="190500"/>
          </a:xfrm>
          <a:prstGeom prst="rect">
            <a:avLst/>
          </a:prstGeom>
          <a:noFill/>
        </p:spPr>
        <p:txBody>
          <a:bodyPr wrap="square" lIns="0" rIns="0" tIns="0" bIns="0">
            <a:spAutoFit/>
          </a:bodyPr>
          <a:lstStyle/>
          <a:p>
            <a:pPr>
              <a:lnSpc>
                <a:spcPts val="1098"/>
              </a:lnSpc>
              <a:spcBef>
                <a:spcPts val="0"/>
              </a:spcBef>
              <a:spcAft>
                <a:spcPts val="0"/>
              </a:spcAft>
              <a:defRPr sz="900" b="0">
                <a:solidFill>
                  <a:srgbClr val="B6D0A5"/>
                </a:solidFill>
                <a:latin typeface="Arial"/>
              </a:defRPr>
            </a:pPr>
            <a:r>
              <a:t>4 / 4</a:t>
            </a:r>
          </a:p>
        </p:txBody>
      </p:sp>
      <p:pic>
        <p:nvPicPr>
          <p:cNvPr id="8" name="Picture 7" descr="image.png"/>
          <p:cNvPicPr>
            <a:picLocks noChangeAspect="1"/>
          </p:cNvPicPr>
          <p:nvPr/>
        </p:nvPicPr>
        <p:blipFill>
          <a:blip r:embed="rId3"/>
          <a:stretch>
            <a:fillRect/>
          </a:stretch>
        </p:blipFill>
        <p:spPr>
          <a:xfrm>
            <a:off x="825131" y="1917700"/>
            <a:ext cx="2375636" cy="1841500"/>
          </a:xfrm>
          <a:prstGeom prst="rect">
            <a:avLst/>
          </a:prstGeom>
        </p:spPr>
      </p:pic>
      <p:pic>
        <p:nvPicPr>
          <p:cNvPr id="9" name="Picture 8" descr="image.png"/>
          <p:cNvPicPr>
            <a:picLocks noChangeAspect="1"/>
          </p:cNvPicPr>
          <p:nvPr/>
        </p:nvPicPr>
        <p:blipFill>
          <a:blip r:embed="rId4"/>
          <a:stretch>
            <a:fillRect/>
          </a:stretch>
        </p:blipFill>
        <p:spPr>
          <a:xfrm>
            <a:off x="4165231" y="1917700"/>
            <a:ext cx="2375636" cy="1841500"/>
          </a:xfrm>
          <a:prstGeom prst="rect">
            <a:avLst/>
          </a:prstGeom>
        </p:spPr>
      </p:pic>
      <p:sp>
        <p:nvSpPr>
          <p:cNvPr id="10" name="TextBox 9"/>
          <p:cNvSpPr txBox="1"/>
          <p:nvPr/>
        </p:nvSpPr>
        <p:spPr>
          <a:xfrm>
            <a:off x="609600" y="3835400"/>
            <a:ext cx="2984500" cy="215900"/>
          </a:xfrm>
          <a:prstGeom prst="rect">
            <a:avLst/>
          </a:prstGeom>
          <a:noFill/>
        </p:spPr>
        <p:txBody>
          <a:bodyPr wrap="square" lIns="0" rIns="0" tIns="0" bIns="0">
            <a:spAutoFit/>
          </a:bodyPr>
          <a:lstStyle/>
          <a:p>
            <a:pPr>
              <a:lnSpc>
                <a:spcPts val="1098"/>
              </a:lnSpc>
              <a:spcBef>
                <a:spcPts val="0"/>
              </a:spcBef>
              <a:spcAft>
                <a:spcPts val="0"/>
              </a:spcAft>
              <a:defRPr sz="900" b="1">
                <a:solidFill>
                  <a:srgbClr val="A4C58F"/>
                </a:solidFill>
                <a:latin typeface="Arial"/>
              </a:defRPr>
            </a:pPr>
            <a:r>
              <a:t>BLOOM OFF / EMISSION REMAINS</a:t>
            </a:r>
          </a:p>
        </p:txBody>
      </p:sp>
      <p:sp>
        <p:nvSpPr>
          <p:cNvPr id="11" name="TextBox 10"/>
          <p:cNvSpPr txBox="1"/>
          <p:nvPr/>
        </p:nvSpPr>
        <p:spPr>
          <a:xfrm>
            <a:off x="3949700" y="3835400"/>
            <a:ext cx="2984500" cy="215900"/>
          </a:xfrm>
          <a:prstGeom prst="rect">
            <a:avLst/>
          </a:prstGeom>
          <a:noFill/>
        </p:spPr>
        <p:txBody>
          <a:bodyPr wrap="square" lIns="0" rIns="0" tIns="0" bIns="0">
            <a:spAutoFit/>
          </a:bodyPr>
          <a:lstStyle/>
          <a:p>
            <a:pPr>
              <a:lnSpc>
                <a:spcPts val="1098"/>
              </a:lnSpc>
              <a:spcBef>
                <a:spcPts val="0"/>
              </a:spcBef>
              <a:spcAft>
                <a:spcPts val="0"/>
              </a:spcAft>
              <a:defRPr sz="900" b="1">
                <a:solidFill>
                  <a:srgbClr val="A4C58F"/>
                </a:solidFill>
                <a:latin typeface="Arial"/>
              </a:defRPr>
            </a:pPr>
            <a:r>
              <a:t>BLOOM ON / HALO RETURNS</a:t>
            </a:r>
          </a:p>
        </p:txBody>
      </p:sp>
      <p:sp>
        <p:nvSpPr>
          <p:cNvPr id="12" name="Rounded Rectangle 11"/>
          <p:cNvSpPr/>
          <p:nvPr/>
        </p:nvSpPr>
        <p:spPr>
          <a:xfrm>
            <a:off x="457200" y="4343400"/>
            <a:ext cx="2082800" cy="7366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4200" y="4495800"/>
            <a:ext cx="1841500" cy="190500"/>
          </a:xfrm>
          <a:prstGeom prst="rect">
            <a:avLst/>
          </a:prstGeom>
          <a:noFill/>
        </p:spPr>
        <p:txBody>
          <a:bodyPr wrap="square" lIns="0" rIns="0" tIns="0" bIns="0">
            <a:spAutoFit/>
          </a:bodyPr>
          <a:lstStyle/>
          <a:p>
            <a:pPr>
              <a:lnSpc>
                <a:spcPts val="1220"/>
              </a:lnSpc>
              <a:spcBef>
                <a:spcPts val="0"/>
              </a:spcBef>
              <a:spcAft>
                <a:spcPts val="0"/>
              </a:spcAft>
              <a:defRPr sz="1000" b="1">
                <a:solidFill>
                  <a:srgbClr val="C5DDB3"/>
                </a:solidFill>
                <a:latin typeface="Arial"/>
              </a:defRPr>
            </a:pPr>
            <a:r>
              <a:t>EMISSION</a:t>
            </a:r>
          </a:p>
        </p:txBody>
      </p:sp>
      <p:sp>
        <p:nvSpPr>
          <p:cNvPr id="14" name="TextBox 13"/>
          <p:cNvSpPr txBox="1"/>
          <p:nvPr/>
        </p:nvSpPr>
        <p:spPr>
          <a:xfrm>
            <a:off x="584200" y="4787900"/>
            <a:ext cx="1841500" cy="203200"/>
          </a:xfrm>
          <a:prstGeom prst="rect">
            <a:avLst/>
          </a:prstGeom>
          <a:noFill/>
        </p:spPr>
        <p:txBody>
          <a:bodyPr wrap="square" lIns="0" rIns="0" tIns="0" bIns="0">
            <a:spAutoFit/>
          </a:bodyPr>
          <a:lstStyle/>
          <a:p>
            <a:pPr>
              <a:lnSpc>
                <a:spcPts val="1098"/>
              </a:lnSpc>
              <a:spcBef>
                <a:spcPts val="0"/>
              </a:spcBef>
              <a:spcAft>
                <a:spcPts val="0"/>
              </a:spcAft>
              <a:defRPr sz="900" b="0">
                <a:solidFill>
                  <a:srgbClr val="A7B99C"/>
                </a:solidFill>
                <a:latin typeface="Arial"/>
              </a:defRPr>
            </a:pPr>
            <a:r>
              <a:t>Bright plant surfaces</a:t>
            </a:r>
          </a:p>
        </p:txBody>
      </p:sp>
      <p:sp>
        <p:nvSpPr>
          <p:cNvPr id="15" name="Rounded Rectangle 14"/>
          <p:cNvSpPr/>
          <p:nvPr/>
        </p:nvSpPr>
        <p:spPr>
          <a:xfrm>
            <a:off x="2641600" y="4343400"/>
            <a:ext cx="2082800" cy="7366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8600" y="4495800"/>
            <a:ext cx="1841500" cy="190500"/>
          </a:xfrm>
          <a:prstGeom prst="rect">
            <a:avLst/>
          </a:prstGeom>
          <a:noFill/>
        </p:spPr>
        <p:txBody>
          <a:bodyPr wrap="square" lIns="0" rIns="0" tIns="0" bIns="0">
            <a:spAutoFit/>
          </a:bodyPr>
          <a:lstStyle/>
          <a:p>
            <a:pPr>
              <a:lnSpc>
                <a:spcPts val="1220"/>
              </a:lnSpc>
              <a:spcBef>
                <a:spcPts val="0"/>
              </a:spcBef>
              <a:spcAft>
                <a:spcPts val="0"/>
              </a:spcAft>
              <a:defRPr sz="1000" b="1">
                <a:solidFill>
                  <a:srgbClr val="C5DDB3"/>
                </a:solidFill>
                <a:latin typeface="Arial"/>
              </a:defRPr>
            </a:pPr>
            <a:r>
              <a:t>POINT LIGHTS</a:t>
            </a:r>
          </a:p>
        </p:txBody>
      </p:sp>
      <p:sp>
        <p:nvSpPr>
          <p:cNvPr id="17" name="TextBox 16"/>
          <p:cNvSpPr txBox="1"/>
          <p:nvPr/>
        </p:nvSpPr>
        <p:spPr>
          <a:xfrm>
            <a:off x="2768600" y="4787900"/>
            <a:ext cx="1841500" cy="203200"/>
          </a:xfrm>
          <a:prstGeom prst="rect">
            <a:avLst/>
          </a:prstGeom>
          <a:noFill/>
        </p:spPr>
        <p:txBody>
          <a:bodyPr wrap="square" lIns="0" rIns="0" tIns="0" bIns="0">
            <a:spAutoFit/>
          </a:bodyPr>
          <a:lstStyle/>
          <a:p>
            <a:pPr>
              <a:lnSpc>
                <a:spcPts val="1098"/>
              </a:lnSpc>
              <a:spcBef>
                <a:spcPts val="0"/>
              </a:spcBef>
              <a:spcAft>
                <a:spcPts val="0"/>
              </a:spcAft>
              <a:defRPr sz="900" b="0">
                <a:solidFill>
                  <a:srgbClr val="A7B99C"/>
                </a:solidFill>
                <a:latin typeface="Arial"/>
              </a:defRPr>
            </a:pPr>
            <a:r>
              <a:t>Colored light on soil</a:t>
            </a:r>
          </a:p>
        </p:txBody>
      </p:sp>
      <p:sp>
        <p:nvSpPr>
          <p:cNvPr id="18" name="Rounded Rectangle 17"/>
          <p:cNvSpPr/>
          <p:nvPr/>
        </p:nvSpPr>
        <p:spPr>
          <a:xfrm>
            <a:off x="4826000" y="4343400"/>
            <a:ext cx="2082800" cy="7366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53000" y="4495800"/>
            <a:ext cx="1841500" cy="190500"/>
          </a:xfrm>
          <a:prstGeom prst="rect">
            <a:avLst/>
          </a:prstGeom>
          <a:noFill/>
        </p:spPr>
        <p:txBody>
          <a:bodyPr wrap="square" lIns="0" rIns="0" tIns="0" bIns="0">
            <a:spAutoFit/>
          </a:bodyPr>
          <a:lstStyle/>
          <a:p>
            <a:pPr>
              <a:lnSpc>
                <a:spcPts val="1220"/>
              </a:lnSpc>
              <a:spcBef>
                <a:spcPts val="0"/>
              </a:spcBef>
              <a:spcAft>
                <a:spcPts val="0"/>
              </a:spcAft>
              <a:defRPr sz="1000" b="1">
                <a:solidFill>
                  <a:srgbClr val="C5DDB3"/>
                </a:solidFill>
                <a:latin typeface="Arial"/>
              </a:defRPr>
            </a:pPr>
            <a:r>
              <a:t>BLOOM</a:t>
            </a:r>
          </a:p>
        </p:txBody>
      </p:sp>
      <p:sp>
        <p:nvSpPr>
          <p:cNvPr id="20" name="TextBox 19"/>
          <p:cNvSpPr txBox="1"/>
          <p:nvPr/>
        </p:nvSpPr>
        <p:spPr>
          <a:xfrm>
            <a:off x="4953000" y="4787900"/>
            <a:ext cx="1841500" cy="203200"/>
          </a:xfrm>
          <a:prstGeom prst="rect">
            <a:avLst/>
          </a:prstGeom>
          <a:noFill/>
        </p:spPr>
        <p:txBody>
          <a:bodyPr wrap="square" lIns="0" rIns="0" tIns="0" bIns="0">
            <a:spAutoFit/>
          </a:bodyPr>
          <a:lstStyle/>
          <a:p>
            <a:pPr>
              <a:lnSpc>
                <a:spcPts val="1098"/>
              </a:lnSpc>
              <a:spcBef>
                <a:spcPts val="0"/>
              </a:spcBef>
              <a:spcAft>
                <a:spcPts val="0"/>
              </a:spcAft>
              <a:defRPr sz="900" b="0">
                <a:solidFill>
                  <a:srgbClr val="A7B99C"/>
                </a:solidFill>
                <a:latin typeface="Arial"/>
              </a:defRPr>
            </a:pPr>
            <a:r>
              <a:t>Screen-space halo</a:t>
            </a:r>
          </a:p>
        </p:txBody>
      </p:sp>
      <p:sp>
        <p:nvSpPr>
          <p:cNvPr id="21" name="TextBox 20"/>
          <p:cNvSpPr txBox="1"/>
          <p:nvPr/>
        </p:nvSpPr>
        <p:spPr>
          <a:xfrm>
            <a:off x="457200" y="5334000"/>
            <a:ext cx="6413500" cy="800100"/>
          </a:xfrm>
          <a:prstGeom prst="rect">
            <a:avLst/>
          </a:prstGeom>
          <a:noFill/>
        </p:spPr>
        <p:txBody>
          <a:bodyPr wrap="square" lIns="0" rIns="0" tIns="0" bIns="0">
            <a:spAutoFit/>
          </a:bodyPr>
          <a:lstStyle/>
          <a:p>
            <a:pPr>
              <a:lnSpc>
                <a:spcPts val="1464"/>
              </a:lnSpc>
              <a:spcBef>
                <a:spcPts val="0"/>
              </a:spcBef>
              <a:spcAft>
                <a:spcPts val="0"/>
              </a:spcAft>
              <a:defRPr sz="1200" b="0">
                <a:solidFill>
                  <a:srgbClr val="C2D3B7"/>
                </a:solidFill>
                <a:latin typeface="Arial"/>
              </a:defRPr>
            </a:pPr>
            <a:r>
              <a:t>Daylight attenuates emission and bloom to avoid washout.</a:t>
            </a:r>
          </a:p>
          <a:p>
            <a:pPr>
              <a:lnSpc>
                <a:spcPts val="1464"/>
              </a:lnSpc>
              <a:spcBef>
                <a:spcPts val="0"/>
              </a:spcBef>
              <a:spcAft>
                <a:spcPts val="0"/>
              </a:spcAft>
              <a:defRPr sz="1200" b="0">
                <a:solidFill>
                  <a:srgbClr val="C2D3B7"/>
                </a:solidFill>
                <a:latin typeface="Arial"/>
              </a:defRPr>
            </a:pPr>
            <a:r>
              <a:t>Instancing limits geometry draw calls.</a:t>
            </a:r>
          </a:p>
          <a:p>
            <a:pPr>
              <a:lnSpc>
                <a:spcPts val="1464"/>
              </a:lnSpc>
              <a:spcBef>
                <a:spcPts val="0"/>
              </a:spcBef>
              <a:spcAft>
                <a:spcPts val="0"/>
              </a:spcAft>
              <a:defRPr sz="1200" b="0">
                <a:solidFill>
                  <a:srgbClr val="C2D3B7"/>
                </a:solidFill>
                <a:latin typeface="Arial"/>
              </a:defRPr>
            </a:pPr>
            <a:r>
              <a:t>FPS capped near 60 does not reveal spare headroom.</a:t>
            </a:r>
          </a:p>
        </p:txBody>
      </p:sp>
      <p:sp>
        <p:nvSpPr>
          <p:cNvPr id="22" name="Rounded Rectangle 21"/>
          <p:cNvSpPr/>
          <p:nvPr/>
        </p:nvSpPr>
        <p:spPr>
          <a:xfrm>
            <a:off x="7289800" y="1968500"/>
            <a:ext cx="4445000" cy="2184400"/>
          </a:xfrm>
          <a:prstGeom prst="roundRect">
            <a:avLst/>
          </a:prstGeom>
          <a:solidFill>
            <a:srgbClr val="13241A"/>
          </a:solidFill>
          <a:ln w="8890">
            <a:solidFill>
              <a:srgbClr val="3047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80300" y="2146300"/>
            <a:ext cx="660400" cy="228600"/>
          </a:xfrm>
          <a:prstGeom prst="rect">
            <a:avLst/>
          </a:prstGeom>
          <a:noFill/>
        </p:spPr>
        <p:txBody>
          <a:bodyPr wrap="square" lIns="0" rIns="0" tIns="0" bIns="0">
            <a:spAutoFit/>
          </a:bodyPr>
          <a:lstStyle/>
          <a:p>
            <a:pPr>
              <a:lnSpc>
                <a:spcPts val="1220"/>
              </a:lnSpc>
              <a:spcBef>
                <a:spcPts val="0"/>
              </a:spcBef>
              <a:spcAft>
                <a:spcPts val="0"/>
              </a:spcAft>
              <a:defRPr sz="1000" b="1">
                <a:solidFill>
                  <a:srgbClr val="A4C58F"/>
                </a:solidFill>
                <a:latin typeface="Arial"/>
              </a:defRPr>
            </a:pPr>
            <a:r>
              <a:t>Plants</a:t>
            </a:r>
          </a:p>
        </p:txBody>
      </p:sp>
      <p:sp>
        <p:nvSpPr>
          <p:cNvPr id="24" name="TextBox 23"/>
          <p:cNvSpPr txBox="1"/>
          <p:nvPr/>
        </p:nvSpPr>
        <p:spPr>
          <a:xfrm>
            <a:off x="8255000" y="2146300"/>
            <a:ext cx="1143000" cy="228600"/>
          </a:xfrm>
          <a:prstGeom prst="rect">
            <a:avLst/>
          </a:prstGeom>
          <a:noFill/>
        </p:spPr>
        <p:txBody>
          <a:bodyPr wrap="square" lIns="0" rIns="0" tIns="0" bIns="0">
            <a:spAutoFit/>
          </a:bodyPr>
          <a:lstStyle/>
          <a:p>
            <a:pPr>
              <a:lnSpc>
                <a:spcPts val="1220"/>
              </a:lnSpc>
              <a:spcBef>
                <a:spcPts val="0"/>
              </a:spcBef>
              <a:spcAft>
                <a:spcPts val="0"/>
              </a:spcAft>
              <a:defRPr sz="1000" b="1">
                <a:solidFill>
                  <a:srgbClr val="A4C58F"/>
                </a:solidFill>
                <a:latin typeface="Arial"/>
              </a:defRPr>
            </a:pPr>
            <a:r>
              <a:t>Avg FPS</a:t>
            </a:r>
          </a:p>
        </p:txBody>
      </p:sp>
      <p:sp>
        <p:nvSpPr>
          <p:cNvPr id="25" name="TextBox 24"/>
          <p:cNvSpPr txBox="1"/>
          <p:nvPr/>
        </p:nvSpPr>
        <p:spPr>
          <a:xfrm>
            <a:off x="9525000" y="2146300"/>
            <a:ext cx="1016000" cy="228600"/>
          </a:xfrm>
          <a:prstGeom prst="rect">
            <a:avLst/>
          </a:prstGeom>
          <a:noFill/>
        </p:spPr>
        <p:txBody>
          <a:bodyPr wrap="square" lIns="0" rIns="0" tIns="0" bIns="0">
            <a:spAutoFit/>
          </a:bodyPr>
          <a:lstStyle/>
          <a:p>
            <a:pPr>
              <a:lnSpc>
                <a:spcPts val="1220"/>
              </a:lnSpc>
              <a:spcBef>
                <a:spcPts val="0"/>
              </a:spcBef>
              <a:spcAft>
                <a:spcPts val="0"/>
              </a:spcAft>
              <a:defRPr sz="1000" b="1">
                <a:solidFill>
                  <a:srgbClr val="A4C58F"/>
                </a:solidFill>
                <a:latin typeface="Arial"/>
              </a:defRPr>
            </a:pPr>
            <a:r>
              <a:t>p95 ms</a:t>
            </a:r>
          </a:p>
        </p:txBody>
      </p:sp>
      <p:sp>
        <p:nvSpPr>
          <p:cNvPr id="26" name="TextBox 25"/>
          <p:cNvSpPr txBox="1"/>
          <p:nvPr/>
        </p:nvSpPr>
        <p:spPr>
          <a:xfrm>
            <a:off x="10756900" y="2146300"/>
            <a:ext cx="825500" cy="228600"/>
          </a:xfrm>
          <a:prstGeom prst="rect">
            <a:avLst/>
          </a:prstGeom>
          <a:noFill/>
        </p:spPr>
        <p:txBody>
          <a:bodyPr wrap="square" lIns="0" rIns="0" tIns="0" bIns="0">
            <a:spAutoFit/>
          </a:bodyPr>
          <a:lstStyle/>
          <a:p>
            <a:pPr>
              <a:lnSpc>
                <a:spcPts val="1220"/>
              </a:lnSpc>
              <a:spcBef>
                <a:spcPts val="0"/>
              </a:spcBef>
              <a:spcAft>
                <a:spcPts val="0"/>
              </a:spcAft>
              <a:defRPr sz="1000" b="1">
                <a:solidFill>
                  <a:srgbClr val="A4C58F"/>
                </a:solidFill>
                <a:latin typeface="Arial"/>
              </a:defRPr>
            </a:pPr>
            <a:r>
              <a:t>Calls</a:t>
            </a:r>
          </a:p>
        </p:txBody>
      </p:sp>
      <p:sp>
        <p:nvSpPr>
          <p:cNvPr id="27" name="TextBox 26"/>
          <p:cNvSpPr txBox="1"/>
          <p:nvPr/>
        </p:nvSpPr>
        <p:spPr>
          <a:xfrm>
            <a:off x="7480300" y="2590800"/>
            <a:ext cx="6604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1</a:t>
            </a:r>
          </a:p>
        </p:txBody>
      </p:sp>
      <p:sp>
        <p:nvSpPr>
          <p:cNvPr id="28" name="TextBox 27"/>
          <p:cNvSpPr txBox="1"/>
          <p:nvPr/>
        </p:nvSpPr>
        <p:spPr>
          <a:xfrm>
            <a:off x="8255000" y="2590800"/>
            <a:ext cx="11430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59.5</a:t>
            </a:r>
          </a:p>
        </p:txBody>
      </p:sp>
      <p:sp>
        <p:nvSpPr>
          <p:cNvPr id="29" name="TextBox 28"/>
          <p:cNvSpPr txBox="1"/>
          <p:nvPr/>
        </p:nvSpPr>
        <p:spPr>
          <a:xfrm>
            <a:off x="9525000" y="2590800"/>
            <a:ext cx="10160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16.8</a:t>
            </a:r>
          </a:p>
        </p:txBody>
      </p:sp>
      <p:sp>
        <p:nvSpPr>
          <p:cNvPr id="30" name="TextBox 29"/>
          <p:cNvSpPr txBox="1"/>
          <p:nvPr/>
        </p:nvSpPr>
        <p:spPr>
          <a:xfrm>
            <a:off x="10756900" y="2590800"/>
            <a:ext cx="8255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23</a:t>
            </a:r>
          </a:p>
        </p:txBody>
      </p:sp>
      <p:sp>
        <p:nvSpPr>
          <p:cNvPr id="31" name="TextBox 30"/>
          <p:cNvSpPr txBox="1"/>
          <p:nvPr/>
        </p:nvSpPr>
        <p:spPr>
          <a:xfrm>
            <a:off x="7480300" y="2984500"/>
            <a:ext cx="6604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3</a:t>
            </a:r>
          </a:p>
        </p:txBody>
      </p:sp>
      <p:sp>
        <p:nvSpPr>
          <p:cNvPr id="32" name="TextBox 31"/>
          <p:cNvSpPr txBox="1"/>
          <p:nvPr/>
        </p:nvSpPr>
        <p:spPr>
          <a:xfrm>
            <a:off x="8255000" y="2984500"/>
            <a:ext cx="11430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60.0</a:t>
            </a:r>
          </a:p>
        </p:txBody>
      </p:sp>
      <p:sp>
        <p:nvSpPr>
          <p:cNvPr id="33" name="TextBox 32"/>
          <p:cNvSpPr txBox="1"/>
          <p:nvPr/>
        </p:nvSpPr>
        <p:spPr>
          <a:xfrm>
            <a:off x="9525000" y="2984500"/>
            <a:ext cx="10160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16.7</a:t>
            </a:r>
          </a:p>
        </p:txBody>
      </p:sp>
      <p:sp>
        <p:nvSpPr>
          <p:cNvPr id="34" name="TextBox 33"/>
          <p:cNvSpPr txBox="1"/>
          <p:nvPr/>
        </p:nvSpPr>
        <p:spPr>
          <a:xfrm>
            <a:off x="10756900" y="2984500"/>
            <a:ext cx="8255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33</a:t>
            </a:r>
          </a:p>
        </p:txBody>
      </p:sp>
      <p:sp>
        <p:nvSpPr>
          <p:cNvPr id="35" name="TextBox 34"/>
          <p:cNvSpPr txBox="1"/>
          <p:nvPr/>
        </p:nvSpPr>
        <p:spPr>
          <a:xfrm>
            <a:off x="7480300" y="3378200"/>
            <a:ext cx="6604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5</a:t>
            </a:r>
          </a:p>
        </p:txBody>
      </p:sp>
      <p:sp>
        <p:nvSpPr>
          <p:cNvPr id="36" name="TextBox 35"/>
          <p:cNvSpPr txBox="1"/>
          <p:nvPr/>
        </p:nvSpPr>
        <p:spPr>
          <a:xfrm>
            <a:off x="8255000" y="3378200"/>
            <a:ext cx="11430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60.0</a:t>
            </a:r>
          </a:p>
        </p:txBody>
      </p:sp>
      <p:sp>
        <p:nvSpPr>
          <p:cNvPr id="37" name="TextBox 36"/>
          <p:cNvSpPr txBox="1"/>
          <p:nvPr/>
        </p:nvSpPr>
        <p:spPr>
          <a:xfrm>
            <a:off x="9525000" y="3378200"/>
            <a:ext cx="10160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16.7</a:t>
            </a:r>
          </a:p>
        </p:txBody>
      </p:sp>
      <p:sp>
        <p:nvSpPr>
          <p:cNvPr id="38" name="TextBox 37"/>
          <p:cNvSpPr txBox="1"/>
          <p:nvPr/>
        </p:nvSpPr>
        <p:spPr>
          <a:xfrm>
            <a:off x="10756900" y="3378200"/>
            <a:ext cx="825500" cy="279400"/>
          </a:xfrm>
          <a:prstGeom prst="rect">
            <a:avLst/>
          </a:prstGeom>
          <a:noFill/>
        </p:spPr>
        <p:txBody>
          <a:bodyPr wrap="square" lIns="0" rIns="0" tIns="0" bIns="0">
            <a:spAutoFit/>
          </a:bodyPr>
          <a:lstStyle/>
          <a:p>
            <a:pPr>
              <a:lnSpc>
                <a:spcPts val="1707"/>
              </a:lnSpc>
              <a:spcBef>
                <a:spcPts val="0"/>
              </a:spcBef>
              <a:spcAft>
                <a:spcPts val="0"/>
              </a:spcAft>
              <a:defRPr sz="1400" b="0">
                <a:solidFill>
                  <a:srgbClr val="E0ECD5"/>
                </a:solidFill>
                <a:latin typeface="Arial"/>
              </a:defRPr>
            </a:pPr>
            <a:r>
              <a:t>43</a:t>
            </a:r>
          </a:p>
        </p:txBody>
      </p:sp>
      <p:sp>
        <p:nvSpPr>
          <p:cNvPr id="39" name="TextBox 38"/>
          <p:cNvSpPr txBox="1"/>
          <p:nvPr/>
        </p:nvSpPr>
        <p:spPr>
          <a:xfrm>
            <a:off x="7289800" y="4381500"/>
            <a:ext cx="4445000" cy="1752600"/>
          </a:xfrm>
          <a:prstGeom prst="rect">
            <a:avLst/>
          </a:prstGeom>
          <a:noFill/>
        </p:spPr>
        <p:txBody>
          <a:bodyPr wrap="square" lIns="0" rIns="0" tIns="0" bIns="0">
            <a:spAutoFit/>
          </a:bodyPr>
          <a:lstStyle/>
          <a:p>
            <a:pPr>
              <a:lnSpc>
                <a:spcPts val="1342"/>
              </a:lnSpc>
              <a:spcBef>
                <a:spcPts val="0"/>
              </a:spcBef>
              <a:spcAft>
                <a:spcPts val="0"/>
              </a:spcAft>
              <a:defRPr sz="1100" b="0">
                <a:solidFill>
                  <a:srgbClr val="AFC4A3"/>
                </a:solidFill>
                <a:latin typeface="Arial"/>
              </a:defRPr>
            </a:pPr>
            <a:r>
              <a:t>M2 / Chrome 156 / 1086 × 594 / DPR 1</a:t>
            </a:r>
          </a:p>
          <a:p>
            <a:pPr>
              <a:lnSpc>
                <a:spcPts val="1342"/>
              </a:lnSpc>
              <a:spcBef>
                <a:spcPts val="0"/>
              </a:spcBef>
              <a:spcAft>
                <a:spcPts val="0"/>
              </a:spcAft>
              <a:defRPr sz="1100" b="0">
                <a:solidFill>
                  <a:srgbClr val="AFC4A3"/>
                </a:solidFill>
                <a:latin typeface="Arial"/>
              </a:defRPr>
            </a:pPr>
            <a:r>
              <a:t>Wind 70%; daylight 15%; bloom control 0.65.</a:t>
            </a:r>
          </a:p>
          <a:p>
            <a:pPr>
              <a:lnSpc>
                <a:spcPts val="1342"/>
              </a:lnSpc>
              <a:spcBef>
                <a:spcPts val="0"/>
              </a:spcBef>
              <a:spcAft>
                <a:spcPts val="0"/>
              </a:spcAft>
              <a:defRPr sz="1100" b="0">
                <a:solidFill>
                  <a:srgbClr val="AFC4A3"/>
                </a:solidFill>
                <a:latin typeface="Arial"/>
              </a:defRPr>
            </a:pPr>
            <a:r>
              <a:t>10s warm-up + 8s sampling at each level.</a:t>
            </a:r>
          </a:p>
          <a:p>
            <a:pPr>
              <a:lnSpc>
                <a:spcPts val="1342"/>
              </a:lnSpc>
              <a:spcBef>
                <a:spcPts val="0"/>
              </a:spcBef>
              <a:spcAft>
                <a:spcPts val="0"/>
              </a:spcAft>
              <a:defRPr sz="1100" b="0">
                <a:solidFill>
                  <a:srgbClr val="AFC4A3"/>
                </a:solidFill>
                <a:latin typeface="Arial"/>
              </a:defRPr>
            </a:pPr>
            <a:r>
              <a:t>Slowest recorded frame: 83.4 ms (included).</a:t>
            </a:r>
          </a:p>
          <a:p>
            <a:pPr>
              <a:lnSpc>
                <a:spcPts val="1342"/>
              </a:lnSpc>
              <a:spcBef>
                <a:spcPts val="0"/>
              </a:spcBef>
              <a:spcAft>
                <a:spcPts val="0"/>
              </a:spcAft>
              <a:defRPr sz="1100" b="0">
                <a:solidFill>
                  <a:srgbClr val="AFC4A3"/>
                </a:solidFill>
                <a:latin typeface="Arial"/>
              </a:defRPr>
            </a:pPr>
          </a:p>
          <a:p>
            <a:pPr>
              <a:lnSpc>
                <a:spcPts val="1342"/>
              </a:lnSpc>
              <a:spcBef>
                <a:spcPts val="0"/>
              </a:spcBef>
              <a:spcAft>
                <a:spcPts val="0"/>
              </a:spcAft>
              <a:defRPr sz="1100" b="0">
                <a:solidFill>
                  <a:srgbClr val="AFC4A3"/>
                </a:solidFill>
                <a:latin typeface="Arial"/>
              </a:defRPr>
            </a:pPr>
            <a:r>
              <a:t>One GPU; no GPU timer queries.</a:t>
            </a:r>
          </a:p>
          <a:p>
            <a:pPr>
              <a:lnSpc>
                <a:spcPts val="1342"/>
              </a:lnSpc>
              <a:spcBef>
                <a:spcPts val="0"/>
              </a:spcBef>
              <a:spcAft>
                <a:spcPts val="0"/>
              </a:spcAft>
              <a:defRPr sz="1100" b="0">
                <a:solidFill>
                  <a:srgbClr val="AFC4A3"/>
                </a:solidFill>
                <a:latin typeface="Arial"/>
              </a:defRPr>
            </a:pPr>
            <a:r>
              <a:t>Five plants do not validate the original 20-plant target.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LuminaGarden - Assignment 4 Mid-Crit</dc:title>
  <dc:subject/>
  <dc:creator>Kartik Patel; Safa Akbar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